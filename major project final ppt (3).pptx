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Picture 1" descr="image1.png"/>
          <p:cNvPicPr>
            <a:picLocks noChangeAspect="1"/>
          </p:cNvPicPr>
          <p:nvPr/>
        </p:nvPicPr>
        <p:blipFill>
          <a:blip r:embed="rId3"/>
          <a:stretch>
            <a:fillRect/>
          </a:stretch>
        </p:blipFill>
        <p:spPr>
          <a:xfrm>
            <a:off x="146304" y="27432"/>
            <a:ext cx="941832" cy="704088"/>
          </a:xfrm>
          <a:prstGeom prst="rect">
            <a:avLst/>
          </a:prstGeom>
        </p:spPr>
      </p:pic>
      <p:pic>
        <p:nvPicPr>
          <p:cNvPr id="3" name="Picture 2" descr="image2.png"/>
          <p:cNvPicPr>
            <a:picLocks noChangeAspect="1"/>
          </p:cNvPicPr>
          <p:nvPr/>
        </p:nvPicPr>
        <p:blipFill>
          <a:blip r:embed="rId4"/>
          <a:stretch>
            <a:fillRect/>
          </a:stretch>
        </p:blipFill>
        <p:spPr>
          <a:xfrm>
            <a:off x="8257031" y="36576"/>
            <a:ext cx="731520" cy="676656"/>
          </a:xfrm>
          <a:prstGeom prst="rect">
            <a:avLst/>
          </a:prstGeom>
        </p:spPr>
      </p:pic>
      <p:sp>
        <p:nvSpPr>
          <p:cNvPr id="4" name="TextBox 3"/>
          <p:cNvSpPr txBox="1"/>
          <p:nvPr/>
        </p:nvSpPr>
        <p:spPr>
          <a:xfrm>
            <a:off x="2194560" y="64008"/>
            <a:ext cx="4754880" cy="182880"/>
          </a:xfrm>
          <a:prstGeom prst="rect">
            <a:avLst/>
          </a:prstGeom>
          <a:noFill/>
        </p:spPr>
        <p:txBody>
          <a:bodyPr wrap="square" lIns="0" rIns="0" tIns="0" bIns="0" anchor="ctr">
            <a:spAutoFit/>
          </a:bodyPr>
          <a:lstStyle/>
          <a:p>
            <a:pPr algn="ctr"/>
            <a:r>
              <a:rPr sz="1080" b="1">
                <a:solidFill>
                  <a:srgbClr val="2D2D2D"/>
                </a:solidFill>
                <a:latin typeface="Arial"/>
              </a:rPr>
              <a:t>KOMMURI PRATAP REDDY INSTITUTE OF TECHNOLOGY</a:t>
            </a:r>
          </a:p>
        </p:txBody>
      </p:sp>
      <p:sp>
        <p:nvSpPr>
          <p:cNvPr id="5" name="TextBox 4"/>
          <p:cNvSpPr txBox="1"/>
          <p:nvPr/>
        </p:nvSpPr>
        <p:spPr>
          <a:xfrm>
            <a:off x="3136392" y="283464"/>
            <a:ext cx="2880360" cy="146304"/>
          </a:xfrm>
          <a:prstGeom prst="rect">
            <a:avLst/>
          </a:prstGeom>
          <a:noFill/>
        </p:spPr>
        <p:txBody>
          <a:bodyPr wrap="square" lIns="0" rIns="0" tIns="0" bIns="0" anchor="ctr">
            <a:spAutoFit/>
          </a:bodyPr>
          <a:lstStyle/>
          <a:p>
            <a:pPr algn="ctr"/>
            <a:r>
              <a:rPr sz="760" b="0">
                <a:solidFill>
                  <a:srgbClr val="5F5F5F"/>
                </a:solidFill>
                <a:latin typeface="Arial"/>
              </a:rPr>
              <a:t>(UGC-AUTONOMOUS INSTITUTION)</a:t>
            </a:r>
          </a:p>
        </p:txBody>
      </p:sp>
      <p:sp>
        <p:nvSpPr>
          <p:cNvPr id="6" name="TextBox 5"/>
          <p:cNvSpPr txBox="1"/>
          <p:nvPr/>
        </p:nvSpPr>
        <p:spPr>
          <a:xfrm>
            <a:off x="2907792" y="832104"/>
            <a:ext cx="3319272" cy="201168"/>
          </a:xfrm>
          <a:prstGeom prst="rect">
            <a:avLst/>
          </a:prstGeom>
          <a:noFill/>
        </p:spPr>
        <p:txBody>
          <a:bodyPr wrap="square" lIns="0" rIns="0" tIns="0" bIns="0" anchor="ctr">
            <a:spAutoFit/>
          </a:bodyPr>
          <a:lstStyle/>
          <a:p>
            <a:pPr algn="ctr"/>
            <a:r>
              <a:rPr sz="900" b="0">
                <a:solidFill>
                  <a:srgbClr val="5A5A5A"/>
                </a:solidFill>
                <a:latin typeface="Arial"/>
              </a:rPr>
              <a:t>FINAL PROJECT PRESENTATION</a:t>
            </a:r>
          </a:p>
        </p:txBody>
      </p:sp>
      <p:sp>
        <p:nvSpPr>
          <p:cNvPr id="7" name="TextBox 6"/>
          <p:cNvSpPr txBox="1"/>
          <p:nvPr/>
        </p:nvSpPr>
        <p:spPr>
          <a:xfrm>
            <a:off x="2221992" y="1335024"/>
            <a:ext cx="4709160" cy="640080"/>
          </a:xfrm>
          <a:prstGeom prst="rect">
            <a:avLst/>
          </a:prstGeom>
          <a:noFill/>
        </p:spPr>
        <p:txBody>
          <a:bodyPr wrap="square" lIns="0" rIns="0" tIns="0" bIns="0" anchor="ctr">
            <a:spAutoFit/>
          </a:bodyPr>
          <a:lstStyle/>
          <a:p>
            <a:pPr algn="ctr"/>
            <a:r>
              <a:rPr sz="2180" b="1">
                <a:solidFill>
                  <a:srgbClr val="1F1F1F"/>
                </a:solidFill>
                <a:latin typeface="Arial"/>
              </a:rPr>
              <a:t>GENAI-ASSISTED AML
COMPLIANCE SYSTEM</a:t>
            </a:r>
          </a:p>
        </p:txBody>
      </p:sp>
      <p:sp>
        <p:nvSpPr>
          <p:cNvPr id="8" name="TextBox 7"/>
          <p:cNvSpPr txBox="1"/>
          <p:nvPr/>
        </p:nvSpPr>
        <p:spPr>
          <a:xfrm>
            <a:off x="2011680" y="2340864"/>
            <a:ext cx="5120640" cy="484632"/>
          </a:xfrm>
          <a:prstGeom prst="rect">
            <a:avLst/>
          </a:prstGeom>
          <a:noFill/>
        </p:spPr>
        <p:txBody>
          <a:bodyPr wrap="square" lIns="0" rIns="0" tIns="0" bIns="0" anchor="ctr">
            <a:spAutoFit/>
          </a:bodyPr>
          <a:lstStyle/>
          <a:p>
            <a:pPr algn="ctr"/>
            <a:r>
              <a:rPr sz="1240" b="0">
                <a:solidFill>
                  <a:srgbClr val="5F5F5F"/>
                </a:solidFill>
                <a:latin typeface="Arial"/>
              </a:rPr>
              <a:t>An explainable, human-in-the-loop decision-support platform
for transaction monitoring and suspicious activity investigation</a:t>
            </a:r>
          </a:p>
        </p:txBody>
      </p:sp>
      <p:sp>
        <p:nvSpPr>
          <p:cNvPr id="9" name="Rounded Rectangle 8"/>
          <p:cNvSpPr/>
          <p:nvPr/>
        </p:nvSpPr>
        <p:spPr>
          <a:xfrm>
            <a:off x="516636" y="3543300"/>
            <a:ext cx="3044952" cy="987552"/>
          </a:xfrm>
          <a:prstGeom prst="roundRect">
            <a:avLst/>
          </a:prstGeom>
          <a:solidFill>
            <a:srgbClr val="DCD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4632" y="3493008"/>
            <a:ext cx="3044952" cy="987552"/>
          </a:xfrm>
          <a:prstGeom prst="roundRect">
            <a:avLst/>
          </a:prstGeom>
          <a:solidFill>
            <a:srgbClr val="F6F7F8"/>
          </a:solidFill>
          <a:ln w="10160">
            <a:solidFill>
              <a:srgbClr val="D9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4632" y="3666744"/>
            <a:ext cx="64008" cy="640080"/>
          </a:xfrm>
          <a:prstGeom prst="rect">
            <a:avLst/>
          </a:prstGeom>
          <a:solidFill>
            <a:srgbClr val="00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3648456"/>
            <a:ext cx="2633472" cy="237744"/>
          </a:xfrm>
          <a:prstGeom prst="rect">
            <a:avLst/>
          </a:prstGeom>
          <a:noFill/>
        </p:spPr>
        <p:txBody>
          <a:bodyPr wrap="square" lIns="0" rIns="0" tIns="0" bIns="0" anchor="ctr">
            <a:spAutoFit/>
          </a:bodyPr>
          <a:lstStyle/>
          <a:p>
            <a:pPr algn="l"/>
            <a:r>
              <a:rPr sz="1360" b="1">
                <a:solidFill>
                  <a:srgbClr val="1F1F1F"/>
                </a:solidFill>
                <a:latin typeface="Arial"/>
              </a:rPr>
              <a:t>UNDER THE GUIDANCE</a:t>
            </a:r>
          </a:p>
        </p:txBody>
      </p:sp>
      <p:sp>
        <p:nvSpPr>
          <p:cNvPr id="13" name="TextBox 12"/>
          <p:cNvSpPr txBox="1"/>
          <p:nvPr/>
        </p:nvSpPr>
        <p:spPr>
          <a:xfrm>
            <a:off x="667512" y="3931920"/>
            <a:ext cx="2606040" cy="274320"/>
          </a:xfrm>
          <a:prstGeom prst="rect">
            <a:avLst/>
          </a:prstGeom>
          <a:noFill/>
        </p:spPr>
        <p:txBody>
          <a:bodyPr wrap="square" lIns="0" rIns="0" tIns="0" bIns="0" anchor="ctr">
            <a:spAutoFit/>
          </a:bodyPr>
          <a:lstStyle/>
          <a:p>
            <a:pPr algn="l"/>
            <a:r>
              <a:rPr sz="1260" b="0">
                <a:solidFill>
                  <a:srgbClr val="2D2D2D"/>
                </a:solidFill>
                <a:latin typeface="Arial"/>
              </a:rPr>
              <a:t>Mrs. Santhi Kumari</a:t>
            </a:r>
          </a:p>
        </p:txBody>
      </p:sp>
      <p:sp>
        <p:nvSpPr>
          <p:cNvPr id="14" name="TextBox 13"/>
          <p:cNvSpPr txBox="1"/>
          <p:nvPr/>
        </p:nvSpPr>
        <p:spPr>
          <a:xfrm>
            <a:off x="667512" y="4160520"/>
            <a:ext cx="2743200" cy="210312"/>
          </a:xfrm>
          <a:prstGeom prst="rect">
            <a:avLst/>
          </a:prstGeom>
          <a:noFill/>
        </p:spPr>
        <p:txBody>
          <a:bodyPr wrap="square" lIns="0" rIns="0" tIns="0" bIns="0" anchor="ctr">
            <a:spAutoFit/>
          </a:bodyPr>
          <a:lstStyle/>
          <a:p>
            <a:pPr algn="l"/>
            <a:r>
              <a:rPr sz="1080" b="0">
                <a:solidFill>
                  <a:srgbClr val="2D2D2D"/>
                </a:solidFill>
                <a:latin typeface="Arial"/>
              </a:rPr>
              <a:t>Assistant Professor, CSE (AI&amp;ML)</a:t>
            </a:r>
          </a:p>
        </p:txBody>
      </p:sp>
      <p:sp>
        <p:nvSpPr>
          <p:cNvPr id="15" name="Rounded Rectangle 14"/>
          <p:cNvSpPr/>
          <p:nvPr/>
        </p:nvSpPr>
        <p:spPr>
          <a:xfrm>
            <a:off x="5353812" y="3360420"/>
            <a:ext cx="3246120" cy="1280160"/>
          </a:xfrm>
          <a:prstGeom prst="roundRect">
            <a:avLst/>
          </a:prstGeom>
          <a:solidFill>
            <a:srgbClr val="DCD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321808" y="3310128"/>
            <a:ext cx="3246120" cy="1280160"/>
          </a:xfrm>
          <a:prstGeom prst="roundRect">
            <a:avLst/>
          </a:prstGeom>
          <a:solidFill>
            <a:srgbClr val="F6F7F8"/>
          </a:solidFill>
          <a:ln w="10160">
            <a:solidFill>
              <a:srgbClr val="D9DD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21808" y="3483864"/>
            <a:ext cx="64008" cy="932688"/>
          </a:xfrm>
          <a:prstGeom prst="rect">
            <a:avLst/>
          </a:prstGeom>
          <a:solidFill>
            <a:srgbClr val="2971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04688" y="3447288"/>
            <a:ext cx="2651760" cy="237744"/>
          </a:xfrm>
          <a:prstGeom prst="rect">
            <a:avLst/>
          </a:prstGeom>
          <a:noFill/>
        </p:spPr>
        <p:txBody>
          <a:bodyPr wrap="square" lIns="0" rIns="0" tIns="0" bIns="0" anchor="ctr">
            <a:spAutoFit/>
          </a:bodyPr>
          <a:lstStyle/>
          <a:p>
            <a:pPr algn="l"/>
            <a:r>
              <a:rPr sz="1360" b="1">
                <a:solidFill>
                  <a:srgbClr val="1F1F1F"/>
                </a:solidFill>
                <a:latin typeface="Arial"/>
              </a:rPr>
              <a:t>SUBMITTED BY</a:t>
            </a:r>
          </a:p>
        </p:txBody>
      </p:sp>
      <p:sp>
        <p:nvSpPr>
          <p:cNvPr id="19" name="TextBox 18"/>
          <p:cNvSpPr txBox="1"/>
          <p:nvPr/>
        </p:nvSpPr>
        <p:spPr>
          <a:xfrm>
            <a:off x="5504688" y="3749039"/>
            <a:ext cx="2862072" cy="164592"/>
          </a:xfrm>
          <a:prstGeom prst="rect">
            <a:avLst/>
          </a:prstGeom>
          <a:noFill/>
        </p:spPr>
        <p:txBody>
          <a:bodyPr wrap="square" lIns="0" rIns="0" tIns="0" bIns="0" anchor="ctr">
            <a:spAutoFit/>
          </a:bodyPr>
          <a:lstStyle/>
          <a:p>
            <a:pPr algn="l"/>
            <a:r>
              <a:rPr sz="1025" b="0">
                <a:solidFill>
                  <a:srgbClr val="2D2D2D"/>
                </a:solidFill>
                <a:latin typeface="Arial"/>
              </a:rPr>
              <a:t>A. Vinay  | 23RA1A66D0</a:t>
            </a:r>
          </a:p>
        </p:txBody>
      </p:sp>
      <p:sp>
        <p:nvSpPr>
          <p:cNvPr id="20" name="TextBox 19"/>
          <p:cNvSpPr txBox="1"/>
          <p:nvPr/>
        </p:nvSpPr>
        <p:spPr>
          <a:xfrm>
            <a:off x="5504688" y="3950207"/>
            <a:ext cx="2862072" cy="164592"/>
          </a:xfrm>
          <a:prstGeom prst="rect">
            <a:avLst/>
          </a:prstGeom>
          <a:noFill/>
        </p:spPr>
        <p:txBody>
          <a:bodyPr wrap="square" lIns="0" rIns="0" tIns="0" bIns="0" anchor="ctr">
            <a:spAutoFit/>
          </a:bodyPr>
          <a:lstStyle/>
          <a:p>
            <a:pPr algn="l"/>
            <a:r>
              <a:rPr sz="1025" b="0">
                <a:solidFill>
                  <a:srgbClr val="2D2D2D"/>
                </a:solidFill>
                <a:latin typeface="Arial"/>
              </a:rPr>
              <a:t>D. Mallesh  | 24RA5A6603</a:t>
            </a:r>
          </a:p>
        </p:txBody>
      </p:sp>
      <p:sp>
        <p:nvSpPr>
          <p:cNvPr id="21" name="TextBox 20"/>
          <p:cNvSpPr txBox="1"/>
          <p:nvPr/>
        </p:nvSpPr>
        <p:spPr>
          <a:xfrm>
            <a:off x="5504688" y="4151376"/>
            <a:ext cx="2862072" cy="164592"/>
          </a:xfrm>
          <a:prstGeom prst="rect">
            <a:avLst/>
          </a:prstGeom>
          <a:noFill/>
        </p:spPr>
        <p:txBody>
          <a:bodyPr wrap="square" lIns="0" rIns="0" tIns="0" bIns="0" anchor="ctr">
            <a:spAutoFit/>
          </a:bodyPr>
          <a:lstStyle/>
          <a:p>
            <a:pPr algn="l"/>
            <a:r>
              <a:rPr sz="1025" b="0">
                <a:solidFill>
                  <a:srgbClr val="2D2D2D"/>
                </a:solidFill>
                <a:latin typeface="Arial"/>
              </a:rPr>
              <a:t>Ch. Surya Teja  | 23RA1A66C1</a:t>
            </a:r>
          </a:p>
        </p:txBody>
      </p:sp>
      <p:sp>
        <p:nvSpPr>
          <p:cNvPr id="22" name="TextBox 21"/>
          <p:cNvSpPr txBox="1"/>
          <p:nvPr/>
        </p:nvSpPr>
        <p:spPr>
          <a:xfrm>
            <a:off x="5504688" y="4352544"/>
            <a:ext cx="2862072" cy="164592"/>
          </a:xfrm>
          <a:prstGeom prst="rect">
            <a:avLst/>
          </a:prstGeom>
          <a:noFill/>
        </p:spPr>
        <p:txBody>
          <a:bodyPr wrap="square" lIns="0" rIns="0" tIns="0" bIns="0" anchor="ctr">
            <a:spAutoFit/>
          </a:bodyPr>
          <a:lstStyle/>
          <a:p>
            <a:pPr algn="l"/>
            <a:r>
              <a:rPr sz="1025" b="0">
                <a:solidFill>
                  <a:srgbClr val="2D2D2D"/>
                </a:solidFill>
                <a:latin typeface="Arial"/>
              </a:rPr>
              <a:t>T. Rohith Singh  | 23RA1A6684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2A44"/>
          </a:solidFill>
          <a:ln w="12700">
            <a:solidFill>
              <a:srgbClr val="1F2A44"/>
            </a:solidFill>
            <a:prstDash val="solid"/>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Abstract</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1000" dirty="0">
                <a:solidFill>
                  <a:srgbClr val="5B6677"/>
                </a:solidFill>
                <a:latin typeface="Calibri" pitchFamily="34" charset="0"/>
                <a:ea typeface="Calibri" pitchFamily="34" charset="-122"/>
                <a:cs typeface="Calibri" pitchFamily="34" charset="-120"/>
              </a:rPr>
              <a:t>KPRIT · Dept. of CSE (AI&amp;ML)   |   2</a:t>
            </a:r>
            <a:endParaRPr lang="en-US" sz="1000" dirty="0"/>
          </a:p>
        </p:txBody>
      </p:sp>
      <p:sp>
        <p:nvSpPr>
          <p:cNvPr id="5" name="Text 3"/>
          <p:cNvSpPr txBox="1"/>
          <p:nvPr/>
        </p:nvSpPr>
        <p:spPr>
          <a:xfrm>
            <a:off x="457200" y="1005840"/>
            <a:ext cx="8229600" cy="2651760"/>
          </a:xfrm>
          <a:prstGeom prst="rect">
            <a:avLst/>
          </a:prstGeom>
          <a:noFill/>
          <a:ln/>
        </p:spPr>
        <p:txBody>
          <a:bodyPr wrap="square" lIns="0" tIns="0" rIns="0" bIns="0" rtlCol="0" anchor="t"/>
          <a:lstStyle/>
          <a:p>
            <a:pPr algn="just" indent="0" marL="0">
              <a:buNone/>
            </a:pPr>
            <a:r>
              <a:rPr lang="en-US" sz="1400" dirty="0">
                <a:solidFill>
                  <a:srgbClr val="222B3A"/>
                </a:solidFill>
                <a:latin typeface="Calibri" pitchFamily="34" charset="0"/>
                <a:ea typeface="Calibri" pitchFamily="34" charset="-122"/>
                <a:cs typeface="Calibri" pitchFamily="34" charset="-120"/>
              </a:rPr>
              <a:t>Anti-Money Laundering (AML) monitoring that relies on fixed rules and thresholds produces many false positives, demands heavy manual effort, and can miss complex or unseen laundering patterns. This project proposes a GenAI-Assisted AML Compliance System that analyses transaction amount, frequency, location, account behaviour, beneficiary relationships and history using Machine Learning to detect anomalies and assign risk scores. Generative AI and NLP then explain why alerts were raised, summarise investigations, identify contributing risk factors and support compliance reports. A secure dashboard with access control, audit logging and data protection presents cases to analysts, and final decisions remain under human validation.</a:t>
            </a:r>
            <a:endParaRPr lang="en-US" sz="1400" dirty="0"/>
          </a:p>
        </p:txBody>
      </p:sp>
      <p:sp>
        <p:nvSpPr>
          <p:cNvPr id="6" name="Text 4"/>
          <p:cNvSpPr txBox="1"/>
          <p:nvPr/>
        </p:nvSpPr>
        <p:spPr>
          <a:xfrm>
            <a:off x="457200" y="3703320"/>
            <a:ext cx="1828800" cy="27432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Keywords</a:t>
            </a:r>
            <a:endParaRPr lang="en-US" sz="1400" dirty="0"/>
          </a:p>
        </p:txBody>
      </p:sp>
      <p:sp>
        <p:nvSpPr>
          <p:cNvPr id="7" name="Shape 5"/>
          <p:cNvSpPr/>
          <p:nvPr/>
        </p:nvSpPr>
        <p:spPr>
          <a:xfrm>
            <a:off x="457200" y="4023360"/>
            <a:ext cx="1737360" cy="292608"/>
          </a:xfrm>
          <a:prstGeom prst="roundRect">
            <a:avLst>
              <a:gd name="adj" fmla="val 25000"/>
            </a:avLst>
          </a:prstGeom>
          <a:solidFill>
            <a:srgbClr val="F4F7FA"/>
          </a:solidFill>
          <a:ln w="9525">
            <a:solidFill>
              <a:srgbClr val="0E7C86"/>
            </a:solidFill>
            <a:prstDash val="solid"/>
          </a:ln>
        </p:spPr>
      </p:sp>
      <p:sp>
        <p:nvSpPr>
          <p:cNvPr id="8" name="Text 6"/>
          <p:cNvSpPr txBox="1"/>
          <p:nvPr/>
        </p:nvSpPr>
        <p:spPr>
          <a:xfrm>
            <a:off x="457200" y="4023360"/>
            <a:ext cx="1737360" cy="292608"/>
          </a:xfrm>
          <a:prstGeom prst="rect">
            <a:avLst/>
          </a:prstGeom>
          <a:noFill/>
          <a:ln/>
        </p:spPr>
        <p:txBody>
          <a:bodyPr wrap="square" lIns="0" tIns="0" rIns="0" bIns="0" rtlCol="0" anchor="ctr"/>
          <a:lstStyle/>
          <a:p>
            <a:pPr algn="ctr" indent="0" marL="0">
              <a:buNone/>
            </a:pPr>
            <a:r>
              <a:rPr lang="en-US" sz="1100" dirty="0">
                <a:solidFill>
                  <a:srgbClr val="1F2A44"/>
                </a:solidFill>
                <a:latin typeface="Calibri" pitchFamily="34" charset="0"/>
                <a:ea typeface="Calibri" pitchFamily="34" charset="-122"/>
                <a:cs typeface="Calibri" pitchFamily="34" charset="-120"/>
              </a:rPr>
              <a:t>Anti-Money Laundering</a:t>
            </a:r>
            <a:endParaRPr lang="en-US" sz="1100" dirty="0"/>
          </a:p>
        </p:txBody>
      </p:sp>
      <p:sp>
        <p:nvSpPr>
          <p:cNvPr id="9" name="Shape 7"/>
          <p:cNvSpPr/>
          <p:nvPr/>
        </p:nvSpPr>
        <p:spPr>
          <a:xfrm>
            <a:off x="2304288" y="4023360"/>
            <a:ext cx="1188720" cy="292608"/>
          </a:xfrm>
          <a:prstGeom prst="roundRect">
            <a:avLst>
              <a:gd name="adj" fmla="val 25000"/>
            </a:avLst>
          </a:prstGeom>
          <a:solidFill>
            <a:srgbClr val="F4F7FA"/>
          </a:solidFill>
          <a:ln w="9525">
            <a:solidFill>
              <a:srgbClr val="0E7C86"/>
            </a:solidFill>
            <a:prstDash val="solid"/>
          </a:ln>
        </p:spPr>
      </p:sp>
      <p:sp>
        <p:nvSpPr>
          <p:cNvPr id="10" name="Text 8"/>
          <p:cNvSpPr txBox="1"/>
          <p:nvPr/>
        </p:nvSpPr>
        <p:spPr>
          <a:xfrm>
            <a:off x="2304288" y="4023360"/>
            <a:ext cx="1188720" cy="292608"/>
          </a:xfrm>
          <a:prstGeom prst="rect">
            <a:avLst/>
          </a:prstGeom>
          <a:noFill/>
          <a:ln/>
        </p:spPr>
        <p:txBody>
          <a:bodyPr wrap="square" lIns="0" tIns="0" rIns="0" bIns="0" rtlCol="0" anchor="ctr"/>
          <a:lstStyle/>
          <a:p>
            <a:pPr algn="ctr" indent="0" marL="0">
              <a:buNone/>
            </a:pPr>
            <a:r>
              <a:rPr lang="en-US" sz="1100" dirty="0">
                <a:solidFill>
                  <a:srgbClr val="1F2A44"/>
                </a:solidFill>
                <a:latin typeface="Calibri" pitchFamily="34" charset="0"/>
                <a:ea typeface="Calibri" pitchFamily="34" charset="-122"/>
                <a:cs typeface="Calibri" pitchFamily="34" charset="-120"/>
              </a:rPr>
              <a:t>Generative AI</a:t>
            </a:r>
            <a:endParaRPr lang="en-US" sz="1100" dirty="0"/>
          </a:p>
        </p:txBody>
      </p:sp>
      <p:sp>
        <p:nvSpPr>
          <p:cNvPr id="11" name="Shape 9"/>
          <p:cNvSpPr/>
          <p:nvPr/>
        </p:nvSpPr>
        <p:spPr>
          <a:xfrm>
            <a:off x="3602736" y="4023360"/>
            <a:ext cx="1371600" cy="292608"/>
          </a:xfrm>
          <a:prstGeom prst="roundRect">
            <a:avLst>
              <a:gd name="adj" fmla="val 25000"/>
            </a:avLst>
          </a:prstGeom>
          <a:solidFill>
            <a:srgbClr val="F4F7FA"/>
          </a:solidFill>
          <a:ln w="9525">
            <a:solidFill>
              <a:srgbClr val="0E7C86"/>
            </a:solidFill>
            <a:prstDash val="solid"/>
          </a:ln>
        </p:spPr>
      </p:sp>
      <p:sp>
        <p:nvSpPr>
          <p:cNvPr id="12" name="Text 10"/>
          <p:cNvSpPr txBox="1"/>
          <p:nvPr/>
        </p:nvSpPr>
        <p:spPr>
          <a:xfrm>
            <a:off x="3602736" y="4023360"/>
            <a:ext cx="1371600" cy="292608"/>
          </a:xfrm>
          <a:prstGeom prst="rect">
            <a:avLst/>
          </a:prstGeom>
          <a:noFill/>
          <a:ln/>
        </p:spPr>
        <p:txBody>
          <a:bodyPr wrap="square" lIns="0" tIns="0" rIns="0" bIns="0" rtlCol="0" anchor="ctr"/>
          <a:lstStyle/>
          <a:p>
            <a:pPr algn="ctr" indent="0" marL="0">
              <a:buNone/>
            </a:pPr>
            <a:r>
              <a:rPr lang="en-US" sz="1100" dirty="0">
                <a:solidFill>
                  <a:srgbClr val="1F2A44"/>
                </a:solidFill>
                <a:latin typeface="Calibri" pitchFamily="34" charset="0"/>
                <a:ea typeface="Calibri" pitchFamily="34" charset="-122"/>
                <a:cs typeface="Calibri" pitchFamily="34" charset="-120"/>
              </a:rPr>
              <a:t>Machine Learning</a:t>
            </a:r>
            <a:endParaRPr lang="en-US" sz="1100" dirty="0"/>
          </a:p>
        </p:txBody>
      </p:sp>
      <p:sp>
        <p:nvSpPr>
          <p:cNvPr id="13" name="Shape 11"/>
          <p:cNvSpPr/>
          <p:nvPr/>
        </p:nvSpPr>
        <p:spPr>
          <a:xfrm>
            <a:off x="5084064" y="4023360"/>
            <a:ext cx="1417320" cy="292608"/>
          </a:xfrm>
          <a:prstGeom prst="roundRect">
            <a:avLst>
              <a:gd name="adj" fmla="val 25000"/>
            </a:avLst>
          </a:prstGeom>
          <a:solidFill>
            <a:srgbClr val="F4F7FA"/>
          </a:solidFill>
          <a:ln w="9525">
            <a:solidFill>
              <a:srgbClr val="0E7C86"/>
            </a:solidFill>
            <a:prstDash val="solid"/>
          </a:ln>
        </p:spPr>
      </p:sp>
      <p:sp>
        <p:nvSpPr>
          <p:cNvPr id="14" name="Text 12"/>
          <p:cNvSpPr txBox="1"/>
          <p:nvPr/>
        </p:nvSpPr>
        <p:spPr>
          <a:xfrm>
            <a:off x="5084064" y="4023360"/>
            <a:ext cx="1417320" cy="292608"/>
          </a:xfrm>
          <a:prstGeom prst="rect">
            <a:avLst/>
          </a:prstGeom>
          <a:noFill/>
          <a:ln/>
        </p:spPr>
        <p:txBody>
          <a:bodyPr wrap="square" lIns="0" tIns="0" rIns="0" bIns="0" rtlCol="0" anchor="ctr"/>
          <a:lstStyle/>
          <a:p>
            <a:pPr algn="ctr" indent="0" marL="0">
              <a:buNone/>
            </a:pPr>
            <a:r>
              <a:rPr lang="en-US" sz="1100" dirty="0">
                <a:solidFill>
                  <a:srgbClr val="1F2A44"/>
                </a:solidFill>
                <a:latin typeface="Calibri" pitchFamily="34" charset="0"/>
                <a:ea typeface="Calibri" pitchFamily="34" charset="-122"/>
                <a:cs typeface="Calibri" pitchFamily="34" charset="-120"/>
              </a:rPr>
              <a:t>Anomaly Detection</a:t>
            </a:r>
            <a:endParaRPr lang="en-US" sz="1100" dirty="0"/>
          </a:p>
        </p:txBody>
      </p:sp>
      <p:sp>
        <p:nvSpPr>
          <p:cNvPr id="15" name="Shape 13"/>
          <p:cNvSpPr/>
          <p:nvPr/>
        </p:nvSpPr>
        <p:spPr>
          <a:xfrm>
            <a:off x="6611112" y="4023360"/>
            <a:ext cx="1051560" cy="292608"/>
          </a:xfrm>
          <a:prstGeom prst="roundRect">
            <a:avLst>
              <a:gd name="adj" fmla="val 25000"/>
            </a:avLst>
          </a:prstGeom>
          <a:solidFill>
            <a:srgbClr val="F4F7FA"/>
          </a:solidFill>
          <a:ln w="9525">
            <a:solidFill>
              <a:srgbClr val="0E7C86"/>
            </a:solidFill>
            <a:prstDash val="solid"/>
          </a:ln>
        </p:spPr>
      </p:sp>
      <p:sp>
        <p:nvSpPr>
          <p:cNvPr id="16" name="Text 14"/>
          <p:cNvSpPr txBox="1"/>
          <p:nvPr/>
        </p:nvSpPr>
        <p:spPr>
          <a:xfrm>
            <a:off x="6611112" y="4023360"/>
            <a:ext cx="1051560" cy="292608"/>
          </a:xfrm>
          <a:prstGeom prst="rect">
            <a:avLst/>
          </a:prstGeom>
          <a:noFill/>
          <a:ln/>
        </p:spPr>
        <p:txBody>
          <a:bodyPr wrap="square" lIns="0" tIns="0" rIns="0" bIns="0" rtlCol="0" anchor="ctr"/>
          <a:lstStyle/>
          <a:p>
            <a:pPr algn="ctr" indent="0" marL="0">
              <a:buNone/>
            </a:pPr>
            <a:r>
              <a:rPr lang="en-US" sz="1100" dirty="0">
                <a:solidFill>
                  <a:srgbClr val="1F2A44"/>
                </a:solidFill>
                <a:latin typeface="Calibri" pitchFamily="34" charset="0"/>
                <a:ea typeface="Calibri" pitchFamily="34" charset="-122"/>
                <a:cs typeface="Calibri" pitchFamily="34" charset="-120"/>
              </a:rPr>
              <a:t>Risk Scoring</a:t>
            </a:r>
            <a:endParaRPr lang="en-US" sz="1100" dirty="0"/>
          </a:p>
        </p:txBody>
      </p:sp>
      <p:sp>
        <p:nvSpPr>
          <p:cNvPr id="17" name="Shape 15"/>
          <p:cNvSpPr/>
          <p:nvPr/>
        </p:nvSpPr>
        <p:spPr>
          <a:xfrm>
            <a:off x="457200" y="4389120"/>
            <a:ext cx="1234440" cy="292608"/>
          </a:xfrm>
          <a:prstGeom prst="roundRect">
            <a:avLst>
              <a:gd name="adj" fmla="val 25000"/>
            </a:avLst>
          </a:prstGeom>
          <a:solidFill>
            <a:srgbClr val="F4F7FA"/>
          </a:solidFill>
          <a:ln w="9525">
            <a:solidFill>
              <a:srgbClr val="0E7C86"/>
            </a:solidFill>
            <a:prstDash val="solid"/>
          </a:ln>
        </p:spPr>
      </p:sp>
      <p:sp>
        <p:nvSpPr>
          <p:cNvPr id="18" name="Text 16"/>
          <p:cNvSpPr txBox="1"/>
          <p:nvPr/>
        </p:nvSpPr>
        <p:spPr>
          <a:xfrm>
            <a:off x="457200" y="4389120"/>
            <a:ext cx="1234440" cy="292608"/>
          </a:xfrm>
          <a:prstGeom prst="rect">
            <a:avLst/>
          </a:prstGeom>
          <a:noFill/>
          <a:ln/>
        </p:spPr>
        <p:txBody>
          <a:bodyPr wrap="square" lIns="0" tIns="0" rIns="0" bIns="0" rtlCol="0" anchor="ctr"/>
          <a:lstStyle/>
          <a:p>
            <a:pPr algn="ctr" indent="0" marL="0">
              <a:buNone/>
            </a:pPr>
            <a:r>
              <a:rPr lang="en-US" sz="1100" dirty="0">
                <a:solidFill>
                  <a:srgbClr val="1F2A44"/>
                </a:solidFill>
                <a:latin typeface="Calibri" pitchFamily="34" charset="0"/>
                <a:ea typeface="Calibri" pitchFamily="34" charset="-122"/>
                <a:cs typeface="Calibri" pitchFamily="34" charset="-120"/>
              </a:rPr>
              <a:t>Explainable AI</a:t>
            </a:r>
            <a:endParaRPr lang="en-US" sz="1100" dirty="0"/>
          </a:p>
        </p:txBody>
      </p:sp>
      <p:sp>
        <p:nvSpPr>
          <p:cNvPr id="19" name="Shape 17"/>
          <p:cNvSpPr/>
          <p:nvPr/>
        </p:nvSpPr>
        <p:spPr>
          <a:xfrm>
            <a:off x="1801368" y="4389120"/>
            <a:ext cx="640080" cy="292608"/>
          </a:xfrm>
          <a:prstGeom prst="roundRect">
            <a:avLst>
              <a:gd name="adj" fmla="val 25000"/>
            </a:avLst>
          </a:prstGeom>
          <a:solidFill>
            <a:srgbClr val="F4F7FA"/>
          </a:solidFill>
          <a:ln w="9525">
            <a:solidFill>
              <a:srgbClr val="0E7C86"/>
            </a:solidFill>
            <a:prstDash val="solid"/>
          </a:ln>
        </p:spPr>
      </p:sp>
      <p:sp>
        <p:nvSpPr>
          <p:cNvPr id="20" name="Text 18"/>
          <p:cNvSpPr txBox="1"/>
          <p:nvPr/>
        </p:nvSpPr>
        <p:spPr>
          <a:xfrm>
            <a:off x="1801368" y="4389120"/>
            <a:ext cx="640080" cy="292608"/>
          </a:xfrm>
          <a:prstGeom prst="rect">
            <a:avLst/>
          </a:prstGeom>
          <a:noFill/>
          <a:ln/>
        </p:spPr>
        <p:txBody>
          <a:bodyPr wrap="square" lIns="0" tIns="0" rIns="0" bIns="0" rtlCol="0" anchor="ctr"/>
          <a:lstStyle/>
          <a:p>
            <a:pPr algn="ctr" indent="0" marL="0">
              <a:buNone/>
            </a:pPr>
            <a:r>
              <a:rPr lang="en-US" sz="1100" dirty="0">
                <a:solidFill>
                  <a:srgbClr val="1F2A44"/>
                </a:solidFill>
                <a:latin typeface="Calibri" pitchFamily="34" charset="0"/>
                <a:ea typeface="Calibri" pitchFamily="34" charset="-122"/>
                <a:cs typeface="Calibri" pitchFamily="34" charset="-120"/>
              </a:rPr>
              <a:t>NLP</a:t>
            </a:r>
            <a:endParaRPr lang="en-US" sz="1100" dirty="0"/>
          </a:p>
        </p:txBody>
      </p:sp>
      <p:sp>
        <p:nvSpPr>
          <p:cNvPr id="21" name="Shape 19"/>
          <p:cNvSpPr/>
          <p:nvPr/>
        </p:nvSpPr>
        <p:spPr>
          <a:xfrm>
            <a:off x="2551176" y="4389120"/>
            <a:ext cx="1645920" cy="292608"/>
          </a:xfrm>
          <a:prstGeom prst="roundRect">
            <a:avLst>
              <a:gd name="adj" fmla="val 25000"/>
            </a:avLst>
          </a:prstGeom>
          <a:solidFill>
            <a:srgbClr val="F4F7FA"/>
          </a:solidFill>
          <a:ln w="9525">
            <a:solidFill>
              <a:srgbClr val="0E7C86"/>
            </a:solidFill>
            <a:prstDash val="solid"/>
          </a:ln>
        </p:spPr>
      </p:sp>
      <p:sp>
        <p:nvSpPr>
          <p:cNvPr id="22" name="Text 20"/>
          <p:cNvSpPr txBox="1"/>
          <p:nvPr/>
        </p:nvSpPr>
        <p:spPr>
          <a:xfrm>
            <a:off x="2551176" y="4389120"/>
            <a:ext cx="1645920" cy="292608"/>
          </a:xfrm>
          <a:prstGeom prst="rect">
            <a:avLst/>
          </a:prstGeom>
          <a:noFill/>
          <a:ln/>
        </p:spPr>
        <p:txBody>
          <a:bodyPr wrap="square" lIns="0" tIns="0" rIns="0" bIns="0" rtlCol="0" anchor="ctr"/>
          <a:lstStyle/>
          <a:p>
            <a:pPr algn="ctr" indent="0" marL="0">
              <a:buNone/>
            </a:pPr>
            <a:r>
              <a:rPr lang="en-US" sz="1100" dirty="0">
                <a:solidFill>
                  <a:srgbClr val="1F2A44"/>
                </a:solidFill>
                <a:latin typeface="Calibri" pitchFamily="34" charset="0"/>
                <a:ea typeface="Calibri" pitchFamily="34" charset="-122"/>
                <a:cs typeface="Calibri" pitchFamily="34" charset="-120"/>
              </a:rPr>
              <a:t>Transaction Monitoring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2A44"/>
          </a:solidFill>
          <a:ln w="12700">
            <a:solidFill>
              <a:srgbClr val="1F2A44"/>
            </a:solidFill>
            <a:prstDash val="solid"/>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Problem &amp; Motivation</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1000" dirty="0">
                <a:solidFill>
                  <a:srgbClr val="5B6677"/>
                </a:solidFill>
                <a:latin typeface="Calibri" pitchFamily="34" charset="0"/>
                <a:ea typeface="Calibri" pitchFamily="34" charset="-122"/>
                <a:cs typeface="Calibri" pitchFamily="34" charset="-120"/>
              </a:rPr>
              <a:t>KPRIT · Dept. of CSE (AI&amp;ML)   |   3</a:t>
            </a:r>
            <a:endParaRPr lang="en-US" sz="1000" dirty="0"/>
          </a:p>
        </p:txBody>
      </p:sp>
      <p:sp>
        <p:nvSpPr>
          <p:cNvPr id="5" name="Text 3"/>
          <p:cNvSpPr txBox="1"/>
          <p:nvPr/>
        </p:nvSpPr>
        <p:spPr>
          <a:xfrm>
            <a:off x="457200" y="1005840"/>
            <a:ext cx="3931920"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The problem</a:t>
            </a:r>
            <a:endParaRPr lang="en-US" sz="1600" dirty="0"/>
          </a:p>
        </p:txBody>
      </p:sp>
      <p:sp>
        <p:nvSpPr>
          <p:cNvPr id="6" name="Text 4"/>
          <p:cNvSpPr txBox="1"/>
          <p:nvPr/>
        </p:nvSpPr>
        <p:spPr>
          <a:xfrm>
            <a:off x="457200" y="1371600"/>
            <a:ext cx="393192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2B3A"/>
                </a:solidFill>
                <a:latin typeface="Calibri" pitchFamily="34" charset="0"/>
                <a:ea typeface="Calibri" pitchFamily="34" charset="-122"/>
                <a:cs typeface="Calibri" pitchFamily="34" charset="-120"/>
              </a:rPr>
              <a:t>High false-positive workload from fixed rules and thresholds</a:t>
            </a:r>
            <a:endParaRPr lang="en-US" sz="1400" dirty="0"/>
          </a:p>
          <a:p>
            <a:pPr marL="342900" indent="-342900">
              <a:spcAft>
                <a:spcPts val="600"/>
              </a:spcAft>
              <a:buSzPct val="100000"/>
              <a:buChar char="•"/>
            </a:pPr>
            <a:r>
              <a:rPr lang="en-US" sz="1400" dirty="0">
                <a:solidFill>
                  <a:srgbClr val="222B3A"/>
                </a:solidFill>
                <a:latin typeface="Calibri" pitchFamily="34" charset="0"/>
                <a:ea typeface="Calibri" pitchFamily="34" charset="-122"/>
                <a:cs typeface="Calibri" pitchFamily="34" charset="-120"/>
              </a:rPr>
              <a:t>Limited discovery of complex or unseen laundering patterns</a:t>
            </a:r>
            <a:endParaRPr lang="en-US" sz="1400" dirty="0"/>
          </a:p>
          <a:p>
            <a:pPr marL="342900" indent="-342900">
              <a:spcAft>
                <a:spcPts val="600"/>
              </a:spcAft>
              <a:buSzPct val="100000"/>
              <a:buChar char="•"/>
            </a:pPr>
            <a:r>
              <a:rPr lang="en-US" sz="1400" dirty="0">
                <a:solidFill>
                  <a:srgbClr val="222B3A"/>
                </a:solidFill>
                <a:latin typeface="Calibri" pitchFamily="34" charset="0"/>
                <a:ea typeface="Calibri" pitchFamily="34" charset="-122"/>
                <a:cs typeface="Calibri" pitchFamily="34" charset="-120"/>
              </a:rPr>
              <a:t>Fragmented context across transactions, accounts and beneficiaries</a:t>
            </a:r>
            <a:endParaRPr lang="en-US" sz="1400" dirty="0"/>
          </a:p>
          <a:p>
            <a:pPr marL="342900" indent="-342900">
              <a:spcAft>
                <a:spcPts val="600"/>
              </a:spcAft>
              <a:buSzPct val="100000"/>
              <a:buChar char="•"/>
            </a:pPr>
            <a:r>
              <a:rPr lang="en-US" sz="1400" dirty="0">
                <a:solidFill>
                  <a:srgbClr val="222B3A"/>
                </a:solidFill>
                <a:latin typeface="Calibri" pitchFamily="34" charset="0"/>
                <a:ea typeface="Calibri" pitchFamily="34" charset="-122"/>
                <a:cs typeface="Calibri" pitchFamily="34" charset="-120"/>
              </a:rPr>
              <a:t>Alert scores give no readable explanation</a:t>
            </a:r>
            <a:endParaRPr lang="en-US" sz="1400" dirty="0"/>
          </a:p>
          <a:p>
            <a:pPr marL="342900" indent="-342900">
              <a:spcAft>
                <a:spcPts val="600"/>
              </a:spcAft>
              <a:buSzPct val="100000"/>
              <a:buChar char="•"/>
            </a:pPr>
            <a:r>
              <a:rPr lang="en-US" sz="1400" dirty="0">
                <a:solidFill>
                  <a:srgbClr val="222B3A"/>
                </a:solidFill>
                <a:latin typeface="Calibri" pitchFamily="34" charset="0"/>
                <a:ea typeface="Calibri" pitchFamily="34" charset="-122"/>
                <a:cs typeface="Calibri" pitchFamily="34" charset="-120"/>
              </a:rPr>
              <a:t>Heavy manual effort to summarise findings and prepare reports</a:t>
            </a:r>
            <a:endParaRPr lang="en-US" sz="1400" dirty="0"/>
          </a:p>
        </p:txBody>
      </p:sp>
      <p:sp>
        <p:nvSpPr>
          <p:cNvPr id="7" name="Shape 5"/>
          <p:cNvSpPr/>
          <p:nvPr/>
        </p:nvSpPr>
        <p:spPr>
          <a:xfrm>
            <a:off x="4754880" y="1005840"/>
            <a:ext cx="3931920" cy="3566160"/>
          </a:xfrm>
          <a:prstGeom prst="rect">
            <a:avLst/>
          </a:prstGeom>
          <a:solidFill>
            <a:srgbClr val="F4F7FA"/>
          </a:solidFill>
          <a:ln w="12700">
            <a:solidFill>
              <a:srgbClr val="DDE3EA"/>
            </a:solidFill>
            <a:prstDash val="solid"/>
          </a:ln>
        </p:spPr>
      </p:sp>
      <p:sp>
        <p:nvSpPr>
          <p:cNvPr id="8" name="Text 6"/>
          <p:cNvSpPr txBox="1"/>
          <p:nvPr/>
        </p:nvSpPr>
        <p:spPr>
          <a:xfrm>
            <a:off x="4983480" y="1097280"/>
            <a:ext cx="3566160" cy="320040"/>
          </a:xfrm>
          <a:prstGeom prst="rect">
            <a:avLst/>
          </a:prstGeom>
          <a:noFill/>
          <a:ln/>
        </p:spPr>
        <p:txBody>
          <a:bodyPr wrap="square" lIns="0" tIns="0" rIns="0" bIns="0" rtlCol="0" anchor="ctr"/>
          <a:lstStyle/>
          <a:p>
            <a:pPr indent="0" marL="0">
              <a:buNone/>
            </a:pPr>
            <a:r>
              <a:rPr lang="en-US" sz="1600" b="1" dirty="0">
                <a:solidFill>
                  <a:srgbClr val="0E7C86"/>
                </a:solidFill>
                <a:latin typeface="Calibri" pitchFamily="34" charset="0"/>
                <a:ea typeface="Calibri" pitchFamily="34" charset="-122"/>
                <a:cs typeface="Calibri" pitchFamily="34" charset="-120"/>
              </a:rPr>
              <a:t>Objectives</a:t>
            </a:r>
            <a:endParaRPr lang="en-US" sz="1600" dirty="0"/>
          </a:p>
        </p:txBody>
      </p:sp>
      <p:sp>
        <p:nvSpPr>
          <p:cNvPr id="9" name="Text 7"/>
          <p:cNvSpPr txBox="1"/>
          <p:nvPr/>
        </p:nvSpPr>
        <p:spPr>
          <a:xfrm>
            <a:off x="4983480" y="1463040"/>
            <a:ext cx="3566160" cy="3017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Detect anomalous behaviour with ML</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Generate risk scores to prioritise cases</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Explain alerts and summarise investigations with GenAI</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Secure dashboard with audit logging and access control</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Keep final decisions with human analysts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2A44"/>
          </a:solidFill>
          <a:ln w="12700">
            <a:solidFill>
              <a:srgbClr val="1F2A44"/>
            </a:solidFill>
            <a:prstDash val="solid"/>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Existing System &amp; Limitations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1000" dirty="0">
                <a:solidFill>
                  <a:srgbClr val="5B6677"/>
                </a:solidFill>
                <a:latin typeface="Calibri" pitchFamily="34" charset="0"/>
                <a:ea typeface="Calibri" pitchFamily="34" charset="-122"/>
                <a:cs typeface="Calibri" pitchFamily="34" charset="-120"/>
              </a:rPr>
              <a:t>KPRIT · Dept. of CSE (AI&amp;ML)   |   4</a:t>
            </a:r>
            <a:endParaRPr lang="en-US" sz="1000" dirty="0"/>
          </a:p>
        </p:txBody>
      </p:sp>
      <p:sp>
        <p:nvSpPr>
          <p:cNvPr id="5" name="Shape 3"/>
          <p:cNvSpPr/>
          <p:nvPr/>
        </p:nvSpPr>
        <p:spPr>
          <a:xfrm>
            <a:off x="457200" y="1051560"/>
            <a:ext cx="3931920" cy="3520440"/>
          </a:xfrm>
          <a:prstGeom prst="rect">
            <a:avLst/>
          </a:prstGeom>
          <a:solidFill>
            <a:srgbClr val="F4F7FA"/>
          </a:solidFill>
          <a:ln w="9525">
            <a:solidFill>
              <a:srgbClr val="DDE3EA"/>
            </a:solidFill>
            <a:prstDash val="solid"/>
          </a:ln>
        </p:spPr>
      </p:sp>
      <p:sp>
        <p:nvSpPr>
          <p:cNvPr id="6" name="Shape 4"/>
          <p:cNvSpPr/>
          <p:nvPr/>
        </p:nvSpPr>
        <p:spPr>
          <a:xfrm>
            <a:off x="457200" y="1051560"/>
            <a:ext cx="73152" cy="3520440"/>
          </a:xfrm>
          <a:prstGeom prst="rect">
            <a:avLst/>
          </a:prstGeom>
          <a:solidFill>
            <a:srgbClr val="0E7C86"/>
          </a:solidFill>
          <a:ln w="12700">
            <a:solidFill>
              <a:srgbClr val="0E7C86"/>
            </a:solidFill>
            <a:prstDash val="solid"/>
          </a:ln>
        </p:spPr>
      </p:sp>
      <p:sp>
        <p:nvSpPr>
          <p:cNvPr id="7" name="Text 5"/>
          <p:cNvSpPr txBox="1"/>
          <p:nvPr/>
        </p:nvSpPr>
        <p:spPr>
          <a:xfrm>
            <a:off x="640080" y="1124712"/>
            <a:ext cx="365760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Traditional AML monitoring</a:t>
            </a:r>
            <a:endParaRPr lang="en-US" sz="1400" dirty="0"/>
          </a:p>
        </p:txBody>
      </p:sp>
      <p:sp>
        <p:nvSpPr>
          <p:cNvPr id="8" name="Text 6"/>
          <p:cNvSpPr txBox="1"/>
          <p:nvPr/>
        </p:nvSpPr>
        <p:spPr>
          <a:xfrm>
            <a:off x="640080" y="1508760"/>
            <a:ext cx="356616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Predefined rules and fixed thresholds</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Transaction screening and customer risk indicators</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Alerts routed to analysts for manual review</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Explicit logic that is easy to document</a:t>
            </a:r>
            <a:endParaRPr lang="en-US" sz="1300" dirty="0"/>
          </a:p>
        </p:txBody>
      </p:sp>
      <p:sp>
        <p:nvSpPr>
          <p:cNvPr id="9" name="Shape 7"/>
          <p:cNvSpPr/>
          <p:nvPr/>
        </p:nvSpPr>
        <p:spPr>
          <a:xfrm>
            <a:off x="4754880" y="1051560"/>
            <a:ext cx="3931920" cy="3520440"/>
          </a:xfrm>
          <a:prstGeom prst="rect">
            <a:avLst/>
          </a:prstGeom>
          <a:solidFill>
            <a:srgbClr val="F4F7FA"/>
          </a:solidFill>
          <a:ln w="9525">
            <a:solidFill>
              <a:srgbClr val="DDE3EA"/>
            </a:solidFill>
            <a:prstDash val="solid"/>
          </a:ln>
        </p:spPr>
      </p:sp>
      <p:sp>
        <p:nvSpPr>
          <p:cNvPr id="10" name="Shape 8"/>
          <p:cNvSpPr/>
          <p:nvPr/>
        </p:nvSpPr>
        <p:spPr>
          <a:xfrm>
            <a:off x="4754880" y="1051560"/>
            <a:ext cx="73152" cy="3520440"/>
          </a:xfrm>
          <a:prstGeom prst="rect">
            <a:avLst/>
          </a:prstGeom>
          <a:solidFill>
            <a:srgbClr val="E0A030"/>
          </a:solidFill>
          <a:ln w="12700">
            <a:solidFill>
              <a:srgbClr val="E0A030"/>
            </a:solidFill>
            <a:prstDash val="solid"/>
          </a:ln>
        </p:spPr>
      </p:sp>
      <p:sp>
        <p:nvSpPr>
          <p:cNvPr id="11" name="Text 9"/>
          <p:cNvSpPr txBox="1"/>
          <p:nvPr/>
        </p:nvSpPr>
        <p:spPr>
          <a:xfrm>
            <a:off x="4937760" y="1124712"/>
            <a:ext cx="365760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Limitations</a:t>
            </a:r>
            <a:endParaRPr lang="en-US" sz="1400" dirty="0"/>
          </a:p>
        </p:txBody>
      </p:sp>
      <p:sp>
        <p:nvSpPr>
          <p:cNvPr id="12" name="Text 10"/>
          <p:cNvSpPr txBox="1"/>
          <p:nvPr/>
        </p:nvSpPr>
        <p:spPr>
          <a:xfrm>
            <a:off x="4937760" y="1508760"/>
            <a:ext cx="356616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Excessive false positives</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Limited adaptability to new patterns</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Weak contextual reasoning</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Manual explanation and reporting effort</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Fragmented information, no NL summaries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2A44"/>
          </a:solidFill>
          <a:ln w="12700">
            <a:solidFill>
              <a:srgbClr val="1F2A44"/>
            </a:solidFill>
            <a:prstDash val="solid"/>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Proposed System Architecture</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1000" dirty="0">
                <a:solidFill>
                  <a:srgbClr val="5B6677"/>
                </a:solidFill>
                <a:latin typeface="Calibri" pitchFamily="34" charset="0"/>
                <a:ea typeface="Calibri" pitchFamily="34" charset="-122"/>
                <a:cs typeface="Calibri" pitchFamily="34" charset="-120"/>
              </a:rPr>
              <a:t>KPRIT · Dept. of CSE (AI&amp;ML)   |   5</a:t>
            </a:r>
            <a:endParaRPr lang="en-US" sz="1000" dirty="0"/>
          </a:p>
        </p:txBody>
      </p:sp>
      <p:sp>
        <p:nvSpPr>
          <p:cNvPr id="5" name="Shape 3"/>
          <p:cNvSpPr/>
          <p:nvPr/>
        </p:nvSpPr>
        <p:spPr>
          <a:xfrm>
            <a:off x="457200" y="1188720"/>
            <a:ext cx="1554480" cy="2103120"/>
          </a:xfrm>
          <a:prstGeom prst="rect">
            <a:avLst/>
          </a:prstGeom>
          <a:solidFill>
            <a:srgbClr val="F4F7FA"/>
          </a:solidFill>
          <a:ln w="9525">
            <a:solidFill>
              <a:srgbClr val="DDE3EA"/>
            </a:solidFill>
            <a:prstDash val="solid"/>
          </a:ln>
        </p:spPr>
      </p:sp>
      <p:sp>
        <p:nvSpPr>
          <p:cNvPr id="6" name="Shape 4"/>
          <p:cNvSpPr/>
          <p:nvPr/>
        </p:nvSpPr>
        <p:spPr>
          <a:xfrm>
            <a:off x="457200" y="1188720"/>
            <a:ext cx="73152" cy="2103120"/>
          </a:xfrm>
          <a:prstGeom prst="rect">
            <a:avLst/>
          </a:prstGeom>
          <a:solidFill>
            <a:srgbClr val="0E7C86"/>
          </a:solidFill>
          <a:ln w="12700">
            <a:solidFill>
              <a:srgbClr val="0E7C86"/>
            </a:solidFill>
            <a:prstDash val="solid"/>
          </a:ln>
        </p:spPr>
      </p:sp>
      <p:sp>
        <p:nvSpPr>
          <p:cNvPr id="7" name="Text 5"/>
          <p:cNvSpPr txBox="1"/>
          <p:nvPr/>
        </p:nvSpPr>
        <p:spPr>
          <a:xfrm>
            <a:off x="640080" y="1261872"/>
            <a:ext cx="128016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Data Input</a:t>
            </a:r>
            <a:endParaRPr lang="en-US" sz="1400" dirty="0"/>
          </a:p>
        </p:txBody>
      </p:sp>
      <p:sp>
        <p:nvSpPr>
          <p:cNvPr id="8" name="Text 6"/>
          <p:cNvSpPr txBox="1"/>
          <p:nvPr/>
        </p:nvSpPr>
        <p:spPr>
          <a:xfrm>
            <a:off x="640080" y="1600200"/>
            <a:ext cx="1280160" cy="1645920"/>
          </a:xfrm>
          <a:prstGeom prst="rect">
            <a:avLst/>
          </a:prstGeom>
          <a:noFill/>
          <a:ln/>
        </p:spPr>
        <p:txBody>
          <a:bodyPr wrap="square" lIns="0" tIns="0" rIns="0" bIns="0" rtlCol="0" anchor="t"/>
          <a:lstStyle/>
          <a:p>
            <a:pPr indent="0" marL="0">
              <a:buNone/>
            </a:pPr>
            <a:r>
              <a:rPr lang="en-US" sz="1200" dirty="0">
                <a:solidFill>
                  <a:srgbClr val="222B3A"/>
                </a:solidFill>
                <a:latin typeface="Calibri" pitchFamily="34" charset="0"/>
                <a:ea typeface="Calibri" pitchFamily="34" charset="-122"/>
                <a:cs typeface="Calibri" pitchFamily="34" charset="-120"/>
              </a:rPr>
              <a:t>Transactions, KYC, accounts, history</a:t>
            </a:r>
            <a:endParaRPr lang="en-US" sz="1200" dirty="0"/>
          </a:p>
        </p:txBody>
      </p:sp>
      <p:sp>
        <p:nvSpPr>
          <p:cNvPr id="9" name="Text 7"/>
          <p:cNvSpPr txBox="1"/>
          <p:nvPr/>
        </p:nvSpPr>
        <p:spPr>
          <a:xfrm>
            <a:off x="1645920" y="960120"/>
            <a:ext cx="365760" cy="228600"/>
          </a:xfrm>
          <a:prstGeom prst="rect">
            <a:avLst/>
          </a:prstGeom>
          <a:noFill/>
          <a:ln/>
        </p:spPr>
        <p:txBody>
          <a:bodyPr wrap="square" lIns="0" tIns="0" rIns="0" bIns="0" rtlCol="0" anchor="ctr"/>
          <a:lstStyle/>
          <a:p>
            <a:pPr algn="r" indent="0" marL="0">
              <a:buNone/>
            </a:pPr>
            <a:r>
              <a:rPr lang="en-US" sz="1100" b="1" dirty="0">
                <a:solidFill>
                  <a:srgbClr val="5B6677"/>
                </a:solidFill>
                <a:latin typeface="Calibri" pitchFamily="34" charset="0"/>
                <a:ea typeface="Calibri" pitchFamily="34" charset="-122"/>
                <a:cs typeface="Calibri" pitchFamily="34" charset="-120"/>
              </a:rPr>
              <a:t>1</a:t>
            </a:r>
            <a:endParaRPr lang="en-US" sz="1100" dirty="0"/>
          </a:p>
        </p:txBody>
      </p:sp>
      <p:sp>
        <p:nvSpPr>
          <p:cNvPr id="10" name="Shape 8"/>
          <p:cNvSpPr/>
          <p:nvPr/>
        </p:nvSpPr>
        <p:spPr>
          <a:xfrm>
            <a:off x="2121408" y="1188720"/>
            <a:ext cx="1554480" cy="2103120"/>
          </a:xfrm>
          <a:prstGeom prst="rect">
            <a:avLst/>
          </a:prstGeom>
          <a:solidFill>
            <a:srgbClr val="F4F7FA"/>
          </a:solidFill>
          <a:ln w="9525">
            <a:solidFill>
              <a:srgbClr val="DDE3EA"/>
            </a:solidFill>
            <a:prstDash val="solid"/>
          </a:ln>
        </p:spPr>
      </p:sp>
      <p:sp>
        <p:nvSpPr>
          <p:cNvPr id="11" name="Shape 9"/>
          <p:cNvSpPr/>
          <p:nvPr/>
        </p:nvSpPr>
        <p:spPr>
          <a:xfrm>
            <a:off x="2121408" y="1188720"/>
            <a:ext cx="73152" cy="2103120"/>
          </a:xfrm>
          <a:prstGeom prst="rect">
            <a:avLst/>
          </a:prstGeom>
          <a:solidFill>
            <a:srgbClr val="0E7C86"/>
          </a:solidFill>
          <a:ln w="12700">
            <a:solidFill>
              <a:srgbClr val="0E7C86"/>
            </a:solidFill>
            <a:prstDash val="solid"/>
          </a:ln>
        </p:spPr>
      </p:sp>
      <p:sp>
        <p:nvSpPr>
          <p:cNvPr id="12" name="Text 10"/>
          <p:cNvSpPr txBox="1"/>
          <p:nvPr/>
        </p:nvSpPr>
        <p:spPr>
          <a:xfrm>
            <a:off x="2304288" y="1261872"/>
            <a:ext cx="128016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Analytical Processing</a:t>
            </a:r>
            <a:endParaRPr lang="en-US" sz="1400" dirty="0"/>
          </a:p>
        </p:txBody>
      </p:sp>
      <p:sp>
        <p:nvSpPr>
          <p:cNvPr id="13" name="Text 11"/>
          <p:cNvSpPr txBox="1"/>
          <p:nvPr/>
        </p:nvSpPr>
        <p:spPr>
          <a:xfrm>
            <a:off x="2304288" y="1600200"/>
            <a:ext cx="1280160" cy="1645920"/>
          </a:xfrm>
          <a:prstGeom prst="rect">
            <a:avLst/>
          </a:prstGeom>
          <a:noFill/>
          <a:ln/>
        </p:spPr>
        <p:txBody>
          <a:bodyPr wrap="square" lIns="0" tIns="0" rIns="0" bIns="0" rtlCol="0" anchor="t"/>
          <a:lstStyle/>
          <a:p>
            <a:pPr indent="0" marL="0">
              <a:buNone/>
            </a:pPr>
            <a:r>
              <a:rPr lang="en-US" sz="1200" dirty="0">
                <a:solidFill>
                  <a:srgbClr val="222B3A"/>
                </a:solidFill>
                <a:latin typeface="Calibri" pitchFamily="34" charset="0"/>
                <a:ea typeface="Calibri" pitchFamily="34" charset="-122"/>
                <a:cs typeface="Calibri" pitchFamily="34" charset="-120"/>
              </a:rPr>
              <a:t>Preprocessing, features, anomaly detection</a:t>
            </a:r>
            <a:endParaRPr lang="en-US" sz="1200" dirty="0"/>
          </a:p>
        </p:txBody>
      </p:sp>
      <p:sp>
        <p:nvSpPr>
          <p:cNvPr id="14" name="Text 12"/>
          <p:cNvSpPr txBox="1"/>
          <p:nvPr/>
        </p:nvSpPr>
        <p:spPr>
          <a:xfrm>
            <a:off x="3310128" y="960120"/>
            <a:ext cx="365760" cy="228600"/>
          </a:xfrm>
          <a:prstGeom prst="rect">
            <a:avLst/>
          </a:prstGeom>
          <a:noFill/>
          <a:ln/>
        </p:spPr>
        <p:txBody>
          <a:bodyPr wrap="square" lIns="0" tIns="0" rIns="0" bIns="0" rtlCol="0" anchor="ctr"/>
          <a:lstStyle/>
          <a:p>
            <a:pPr algn="r" indent="0" marL="0">
              <a:buNone/>
            </a:pPr>
            <a:r>
              <a:rPr lang="en-US" sz="1100" b="1" dirty="0">
                <a:solidFill>
                  <a:srgbClr val="5B6677"/>
                </a:solidFill>
                <a:latin typeface="Calibri" pitchFamily="34" charset="0"/>
                <a:ea typeface="Calibri" pitchFamily="34" charset="-122"/>
                <a:cs typeface="Calibri" pitchFamily="34" charset="-120"/>
              </a:rPr>
              <a:t>2</a:t>
            </a:r>
            <a:endParaRPr lang="en-US" sz="1100" dirty="0"/>
          </a:p>
        </p:txBody>
      </p:sp>
      <p:sp>
        <p:nvSpPr>
          <p:cNvPr id="15" name="Shape 13"/>
          <p:cNvSpPr/>
          <p:nvPr/>
        </p:nvSpPr>
        <p:spPr>
          <a:xfrm>
            <a:off x="3785616" y="1188720"/>
            <a:ext cx="1554480" cy="2103120"/>
          </a:xfrm>
          <a:prstGeom prst="rect">
            <a:avLst/>
          </a:prstGeom>
          <a:solidFill>
            <a:srgbClr val="F4F7FA"/>
          </a:solidFill>
          <a:ln w="9525">
            <a:solidFill>
              <a:srgbClr val="DDE3EA"/>
            </a:solidFill>
            <a:prstDash val="solid"/>
          </a:ln>
        </p:spPr>
      </p:sp>
      <p:sp>
        <p:nvSpPr>
          <p:cNvPr id="16" name="Shape 14"/>
          <p:cNvSpPr/>
          <p:nvPr/>
        </p:nvSpPr>
        <p:spPr>
          <a:xfrm>
            <a:off x="3785616" y="1188720"/>
            <a:ext cx="73152" cy="2103120"/>
          </a:xfrm>
          <a:prstGeom prst="rect">
            <a:avLst/>
          </a:prstGeom>
          <a:solidFill>
            <a:srgbClr val="0E7C86"/>
          </a:solidFill>
          <a:ln w="12700">
            <a:solidFill>
              <a:srgbClr val="0E7C86"/>
            </a:solidFill>
            <a:prstDash val="solid"/>
          </a:ln>
        </p:spPr>
      </p:sp>
      <p:sp>
        <p:nvSpPr>
          <p:cNvPr id="17" name="Text 15"/>
          <p:cNvSpPr txBox="1"/>
          <p:nvPr/>
        </p:nvSpPr>
        <p:spPr>
          <a:xfrm>
            <a:off x="3968496" y="1261872"/>
            <a:ext cx="128016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Risk &amp; Alerts</a:t>
            </a:r>
            <a:endParaRPr lang="en-US" sz="1400" dirty="0"/>
          </a:p>
        </p:txBody>
      </p:sp>
      <p:sp>
        <p:nvSpPr>
          <p:cNvPr id="18" name="Text 16"/>
          <p:cNvSpPr txBox="1"/>
          <p:nvPr/>
        </p:nvSpPr>
        <p:spPr>
          <a:xfrm>
            <a:off x="3968496" y="1600200"/>
            <a:ext cx="1280160" cy="1645920"/>
          </a:xfrm>
          <a:prstGeom prst="rect">
            <a:avLst/>
          </a:prstGeom>
          <a:noFill/>
          <a:ln/>
        </p:spPr>
        <p:txBody>
          <a:bodyPr wrap="square" lIns="0" tIns="0" rIns="0" bIns="0" rtlCol="0" anchor="t"/>
          <a:lstStyle/>
          <a:p>
            <a:pPr indent="0" marL="0">
              <a:buNone/>
            </a:pPr>
            <a:r>
              <a:rPr lang="en-US" sz="1200" dirty="0">
                <a:solidFill>
                  <a:srgbClr val="222B3A"/>
                </a:solidFill>
                <a:latin typeface="Calibri" pitchFamily="34" charset="0"/>
                <a:ea typeface="Calibri" pitchFamily="34" charset="-122"/>
                <a:cs typeface="Calibri" pitchFamily="34" charset="-120"/>
              </a:rPr>
              <a:t>Risk scores, alert prioritisation</a:t>
            </a:r>
            <a:endParaRPr lang="en-US" sz="1200" dirty="0"/>
          </a:p>
        </p:txBody>
      </p:sp>
      <p:sp>
        <p:nvSpPr>
          <p:cNvPr id="19" name="Text 17"/>
          <p:cNvSpPr txBox="1"/>
          <p:nvPr/>
        </p:nvSpPr>
        <p:spPr>
          <a:xfrm>
            <a:off x="4974336" y="960120"/>
            <a:ext cx="365760" cy="228600"/>
          </a:xfrm>
          <a:prstGeom prst="rect">
            <a:avLst/>
          </a:prstGeom>
          <a:noFill/>
          <a:ln/>
        </p:spPr>
        <p:txBody>
          <a:bodyPr wrap="square" lIns="0" tIns="0" rIns="0" bIns="0" rtlCol="0" anchor="ctr"/>
          <a:lstStyle/>
          <a:p>
            <a:pPr algn="r" indent="0" marL="0">
              <a:buNone/>
            </a:pPr>
            <a:r>
              <a:rPr lang="en-US" sz="1100" b="1" dirty="0">
                <a:solidFill>
                  <a:srgbClr val="5B6677"/>
                </a:solidFill>
                <a:latin typeface="Calibri" pitchFamily="34" charset="0"/>
                <a:ea typeface="Calibri" pitchFamily="34" charset="-122"/>
                <a:cs typeface="Calibri" pitchFamily="34" charset="-120"/>
              </a:rPr>
              <a:t>3</a:t>
            </a:r>
            <a:endParaRPr lang="en-US" sz="1100" dirty="0"/>
          </a:p>
        </p:txBody>
      </p:sp>
      <p:sp>
        <p:nvSpPr>
          <p:cNvPr id="20" name="Shape 18"/>
          <p:cNvSpPr/>
          <p:nvPr/>
        </p:nvSpPr>
        <p:spPr>
          <a:xfrm>
            <a:off x="5449824" y="1188720"/>
            <a:ext cx="1554480" cy="2103120"/>
          </a:xfrm>
          <a:prstGeom prst="rect">
            <a:avLst/>
          </a:prstGeom>
          <a:solidFill>
            <a:srgbClr val="F4F7FA"/>
          </a:solidFill>
          <a:ln w="9525">
            <a:solidFill>
              <a:srgbClr val="DDE3EA"/>
            </a:solidFill>
            <a:prstDash val="solid"/>
          </a:ln>
        </p:spPr>
      </p:sp>
      <p:sp>
        <p:nvSpPr>
          <p:cNvPr id="21" name="Shape 19"/>
          <p:cNvSpPr/>
          <p:nvPr/>
        </p:nvSpPr>
        <p:spPr>
          <a:xfrm>
            <a:off x="5449824" y="1188720"/>
            <a:ext cx="73152" cy="2103120"/>
          </a:xfrm>
          <a:prstGeom prst="rect">
            <a:avLst/>
          </a:prstGeom>
          <a:solidFill>
            <a:srgbClr val="E0A030"/>
          </a:solidFill>
          <a:ln w="12700">
            <a:solidFill>
              <a:srgbClr val="E0A030"/>
            </a:solidFill>
            <a:prstDash val="solid"/>
          </a:ln>
        </p:spPr>
      </p:sp>
      <p:sp>
        <p:nvSpPr>
          <p:cNvPr id="22" name="Text 20"/>
          <p:cNvSpPr txBox="1"/>
          <p:nvPr/>
        </p:nvSpPr>
        <p:spPr>
          <a:xfrm>
            <a:off x="5632704" y="1261872"/>
            <a:ext cx="128016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GenAI Explanation</a:t>
            </a:r>
            <a:endParaRPr lang="en-US" sz="1400" dirty="0"/>
          </a:p>
        </p:txBody>
      </p:sp>
      <p:sp>
        <p:nvSpPr>
          <p:cNvPr id="23" name="Text 21"/>
          <p:cNvSpPr txBox="1"/>
          <p:nvPr/>
        </p:nvSpPr>
        <p:spPr>
          <a:xfrm>
            <a:off x="5632704" y="1600200"/>
            <a:ext cx="1280160" cy="1645920"/>
          </a:xfrm>
          <a:prstGeom prst="rect">
            <a:avLst/>
          </a:prstGeom>
          <a:noFill/>
          <a:ln/>
        </p:spPr>
        <p:txBody>
          <a:bodyPr wrap="square" lIns="0" tIns="0" rIns="0" bIns="0" rtlCol="0" anchor="t"/>
          <a:lstStyle/>
          <a:p>
            <a:pPr indent="0" marL="0">
              <a:buNone/>
            </a:pPr>
            <a:r>
              <a:rPr lang="en-US" sz="1200" dirty="0">
                <a:solidFill>
                  <a:srgbClr val="222B3A"/>
                </a:solidFill>
                <a:latin typeface="Calibri" pitchFamily="34" charset="0"/>
                <a:ea typeface="Calibri" pitchFamily="34" charset="-122"/>
                <a:cs typeface="Calibri" pitchFamily="34" charset="-120"/>
              </a:rPr>
              <a:t>Reasons, risk factors, summaries</a:t>
            </a:r>
            <a:endParaRPr lang="en-US" sz="1200" dirty="0"/>
          </a:p>
        </p:txBody>
      </p:sp>
      <p:sp>
        <p:nvSpPr>
          <p:cNvPr id="24" name="Text 22"/>
          <p:cNvSpPr txBox="1"/>
          <p:nvPr/>
        </p:nvSpPr>
        <p:spPr>
          <a:xfrm>
            <a:off x="6638544" y="960120"/>
            <a:ext cx="365760" cy="228600"/>
          </a:xfrm>
          <a:prstGeom prst="rect">
            <a:avLst/>
          </a:prstGeom>
          <a:noFill/>
          <a:ln/>
        </p:spPr>
        <p:txBody>
          <a:bodyPr wrap="square" lIns="0" tIns="0" rIns="0" bIns="0" rtlCol="0" anchor="ctr"/>
          <a:lstStyle/>
          <a:p>
            <a:pPr algn="r" indent="0" marL="0">
              <a:buNone/>
            </a:pPr>
            <a:r>
              <a:rPr lang="en-US" sz="1100" b="1" dirty="0">
                <a:solidFill>
                  <a:srgbClr val="5B6677"/>
                </a:solidFill>
                <a:latin typeface="Calibri" pitchFamily="34" charset="0"/>
                <a:ea typeface="Calibri" pitchFamily="34" charset="-122"/>
                <a:cs typeface="Calibri" pitchFamily="34" charset="-120"/>
              </a:rPr>
              <a:t>4</a:t>
            </a:r>
            <a:endParaRPr lang="en-US" sz="1100" dirty="0"/>
          </a:p>
        </p:txBody>
      </p:sp>
      <p:sp>
        <p:nvSpPr>
          <p:cNvPr id="25" name="Shape 23"/>
          <p:cNvSpPr/>
          <p:nvPr/>
        </p:nvSpPr>
        <p:spPr>
          <a:xfrm>
            <a:off x="7114032" y="1188720"/>
            <a:ext cx="1554480" cy="2103120"/>
          </a:xfrm>
          <a:prstGeom prst="rect">
            <a:avLst/>
          </a:prstGeom>
          <a:solidFill>
            <a:srgbClr val="F4F7FA"/>
          </a:solidFill>
          <a:ln w="9525">
            <a:solidFill>
              <a:srgbClr val="DDE3EA"/>
            </a:solidFill>
            <a:prstDash val="solid"/>
          </a:ln>
        </p:spPr>
      </p:sp>
      <p:sp>
        <p:nvSpPr>
          <p:cNvPr id="26" name="Shape 24"/>
          <p:cNvSpPr/>
          <p:nvPr/>
        </p:nvSpPr>
        <p:spPr>
          <a:xfrm>
            <a:off x="7114032" y="1188720"/>
            <a:ext cx="73152" cy="2103120"/>
          </a:xfrm>
          <a:prstGeom prst="rect">
            <a:avLst/>
          </a:prstGeom>
          <a:solidFill>
            <a:srgbClr val="0E7C86"/>
          </a:solidFill>
          <a:ln w="12700">
            <a:solidFill>
              <a:srgbClr val="0E7C86"/>
            </a:solidFill>
            <a:prstDash val="solid"/>
          </a:ln>
        </p:spPr>
      </p:sp>
      <p:sp>
        <p:nvSpPr>
          <p:cNvPr id="27" name="Text 25"/>
          <p:cNvSpPr txBox="1"/>
          <p:nvPr/>
        </p:nvSpPr>
        <p:spPr>
          <a:xfrm>
            <a:off x="7296912" y="1261872"/>
            <a:ext cx="128016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Human Investigation</a:t>
            </a:r>
            <a:endParaRPr lang="en-US" sz="1400" dirty="0"/>
          </a:p>
        </p:txBody>
      </p:sp>
      <p:sp>
        <p:nvSpPr>
          <p:cNvPr id="28" name="Text 26"/>
          <p:cNvSpPr txBox="1"/>
          <p:nvPr/>
        </p:nvSpPr>
        <p:spPr>
          <a:xfrm>
            <a:off x="7296912" y="1600200"/>
            <a:ext cx="1280160" cy="1645920"/>
          </a:xfrm>
          <a:prstGeom prst="rect">
            <a:avLst/>
          </a:prstGeom>
          <a:noFill/>
          <a:ln/>
        </p:spPr>
        <p:txBody>
          <a:bodyPr wrap="square" lIns="0" tIns="0" rIns="0" bIns="0" rtlCol="0" anchor="t"/>
          <a:lstStyle/>
          <a:p>
            <a:pPr indent="0" marL="0">
              <a:buNone/>
            </a:pPr>
            <a:r>
              <a:rPr lang="en-US" sz="1200" dirty="0">
                <a:solidFill>
                  <a:srgbClr val="222B3A"/>
                </a:solidFill>
                <a:latin typeface="Calibri" pitchFamily="34" charset="0"/>
                <a:ea typeface="Calibri" pitchFamily="34" charset="-122"/>
                <a:cs typeface="Calibri" pitchFamily="34" charset="-120"/>
              </a:rPr>
              <a:t>Dashboard, analyst review, validation</a:t>
            </a:r>
            <a:endParaRPr lang="en-US" sz="1200" dirty="0"/>
          </a:p>
        </p:txBody>
      </p:sp>
      <p:sp>
        <p:nvSpPr>
          <p:cNvPr id="29" name="Text 27"/>
          <p:cNvSpPr txBox="1"/>
          <p:nvPr/>
        </p:nvSpPr>
        <p:spPr>
          <a:xfrm>
            <a:off x="8302752" y="960120"/>
            <a:ext cx="365760" cy="228600"/>
          </a:xfrm>
          <a:prstGeom prst="rect">
            <a:avLst/>
          </a:prstGeom>
          <a:noFill/>
          <a:ln/>
        </p:spPr>
        <p:txBody>
          <a:bodyPr wrap="square" lIns="0" tIns="0" rIns="0" bIns="0" rtlCol="0" anchor="ctr"/>
          <a:lstStyle/>
          <a:p>
            <a:pPr algn="r" indent="0" marL="0">
              <a:buNone/>
            </a:pPr>
            <a:r>
              <a:rPr lang="en-US" sz="1100" b="1" dirty="0">
                <a:solidFill>
                  <a:srgbClr val="5B6677"/>
                </a:solidFill>
                <a:latin typeface="Calibri" pitchFamily="34" charset="0"/>
                <a:ea typeface="Calibri" pitchFamily="34" charset="-122"/>
                <a:cs typeface="Calibri" pitchFamily="34" charset="-120"/>
              </a:rPr>
              <a:t>5</a:t>
            </a:r>
            <a:endParaRPr lang="en-US" sz="1100" dirty="0"/>
          </a:p>
        </p:txBody>
      </p:sp>
      <p:sp>
        <p:nvSpPr>
          <p:cNvPr id="30" name="Shape 28"/>
          <p:cNvSpPr/>
          <p:nvPr/>
        </p:nvSpPr>
        <p:spPr>
          <a:xfrm>
            <a:off x="457200" y="3520440"/>
            <a:ext cx="8229600" cy="731520"/>
          </a:xfrm>
          <a:prstGeom prst="rect">
            <a:avLst/>
          </a:prstGeom>
          <a:solidFill>
            <a:srgbClr val="1F2A44"/>
          </a:solidFill>
          <a:ln w="12700">
            <a:solidFill>
              <a:srgbClr val="1F2A44"/>
            </a:solidFill>
            <a:prstDash val="solid"/>
          </a:ln>
        </p:spPr>
      </p:sp>
      <p:sp>
        <p:nvSpPr>
          <p:cNvPr id="31" name="Text 29"/>
          <p:cNvSpPr txBox="1"/>
          <p:nvPr/>
        </p:nvSpPr>
        <p:spPr>
          <a:xfrm>
            <a:off x="548640" y="3520440"/>
            <a:ext cx="804672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Cross-cutting controls: access control · audit logging · data protection · human validation</a:t>
            </a:r>
            <a:endParaRPr lang="en-US" sz="1500" dirty="0"/>
          </a:p>
        </p:txBody>
      </p:sp>
      <p:sp>
        <p:nvSpPr>
          <p:cNvPr id="32" name="Text 30"/>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200" i="1" dirty="0">
                <a:solidFill>
                  <a:srgbClr val="5B6677"/>
                </a:solidFill>
                <a:latin typeface="Calibri" pitchFamily="34" charset="0"/>
                <a:ea typeface="Calibri" pitchFamily="34" charset="-122"/>
                <a:cs typeface="Calibri" pitchFamily="34" charset="-120"/>
              </a:rPr>
              <a:t>GenAI assists the analyst after detection; it is never the sole detector or final decision-maker.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2A44"/>
          </a:solidFill>
          <a:ln w="12700">
            <a:solidFill>
              <a:srgbClr val="1F2A44"/>
            </a:solidFill>
            <a:prstDash val="solid"/>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System Workflow</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1000" dirty="0">
                <a:solidFill>
                  <a:srgbClr val="5B6677"/>
                </a:solidFill>
                <a:latin typeface="Calibri" pitchFamily="34" charset="0"/>
                <a:ea typeface="Calibri" pitchFamily="34" charset="-122"/>
                <a:cs typeface="Calibri" pitchFamily="34" charset="-120"/>
              </a:rPr>
              <a:t>KPRIT · Dept. of CSE (AI&amp;ML)   |   6</a:t>
            </a:r>
            <a:endParaRPr lang="en-US" sz="1000" dirty="0"/>
          </a:p>
        </p:txBody>
      </p:sp>
      <p:sp>
        <p:nvSpPr>
          <p:cNvPr id="5" name="Shape 3"/>
          <p:cNvSpPr/>
          <p:nvPr/>
        </p:nvSpPr>
        <p:spPr>
          <a:xfrm>
            <a:off x="457200" y="1005840"/>
            <a:ext cx="1554480" cy="1600200"/>
          </a:xfrm>
          <a:prstGeom prst="rect">
            <a:avLst/>
          </a:prstGeom>
          <a:solidFill>
            <a:srgbClr val="F4F7FA"/>
          </a:solidFill>
          <a:ln w="12700">
            <a:solidFill>
              <a:srgbClr val="DDE3EA"/>
            </a:solidFill>
            <a:prstDash val="solid"/>
          </a:ln>
        </p:spPr>
      </p:sp>
      <p:sp>
        <p:nvSpPr>
          <p:cNvPr id="6" name="Shape 4"/>
          <p:cNvSpPr/>
          <p:nvPr/>
        </p:nvSpPr>
        <p:spPr>
          <a:xfrm>
            <a:off x="566928" y="1097280"/>
            <a:ext cx="347472" cy="347472"/>
          </a:xfrm>
          <a:prstGeom prst="ellipse">
            <a:avLst/>
          </a:prstGeom>
          <a:solidFill>
            <a:srgbClr val="0E7C86"/>
          </a:solidFill>
          <a:ln w="12700">
            <a:solidFill>
              <a:srgbClr val="FFFFFF"/>
            </a:solidFill>
            <a:prstDash val="solid"/>
          </a:ln>
        </p:spPr>
      </p:sp>
      <p:sp>
        <p:nvSpPr>
          <p:cNvPr id="7" name="Text 5"/>
          <p:cNvSpPr txBox="1"/>
          <p:nvPr/>
        </p:nvSpPr>
        <p:spPr>
          <a:xfrm>
            <a:off x="566928"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566928" y="1508760"/>
            <a:ext cx="1335024" cy="36576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Data intake</a:t>
            </a:r>
            <a:endParaRPr lang="en-US" sz="1200" dirty="0"/>
          </a:p>
        </p:txBody>
      </p:sp>
      <p:sp>
        <p:nvSpPr>
          <p:cNvPr id="9" name="Text 7"/>
          <p:cNvSpPr txBox="1"/>
          <p:nvPr/>
        </p:nvSpPr>
        <p:spPr>
          <a:xfrm>
            <a:off x="566928" y="1901952"/>
            <a:ext cx="1335024" cy="640080"/>
          </a:xfrm>
          <a:prstGeom prst="rect">
            <a:avLst/>
          </a:prstGeom>
          <a:noFill/>
          <a:ln/>
        </p:spPr>
        <p:txBody>
          <a:bodyPr wrap="square" lIns="0" tIns="0" rIns="0" bIns="0" rtlCol="0" anchor="t"/>
          <a:lstStyle/>
          <a:p>
            <a:pPr indent="0" marL="0">
              <a:buNone/>
            </a:pPr>
            <a:r>
              <a:rPr lang="en-US" sz="1100" dirty="0">
                <a:solidFill>
                  <a:srgbClr val="222B3A"/>
                </a:solidFill>
                <a:latin typeface="Calibri" pitchFamily="34" charset="0"/>
                <a:ea typeface="Calibri" pitchFamily="34" charset="-122"/>
                <a:cs typeface="Calibri" pitchFamily="34" charset="-120"/>
              </a:rPr>
              <a:t>Transactions and customer data enter</a:t>
            </a:r>
            <a:endParaRPr lang="en-US" sz="1100" dirty="0"/>
          </a:p>
        </p:txBody>
      </p:sp>
      <p:sp>
        <p:nvSpPr>
          <p:cNvPr id="10" name="Shape 8"/>
          <p:cNvSpPr/>
          <p:nvPr/>
        </p:nvSpPr>
        <p:spPr>
          <a:xfrm>
            <a:off x="2121408" y="1005840"/>
            <a:ext cx="1554480" cy="1600200"/>
          </a:xfrm>
          <a:prstGeom prst="rect">
            <a:avLst/>
          </a:prstGeom>
          <a:solidFill>
            <a:srgbClr val="F4F7FA"/>
          </a:solidFill>
          <a:ln w="12700">
            <a:solidFill>
              <a:srgbClr val="DDE3EA"/>
            </a:solidFill>
            <a:prstDash val="solid"/>
          </a:ln>
        </p:spPr>
      </p:sp>
      <p:sp>
        <p:nvSpPr>
          <p:cNvPr id="11" name="Shape 9"/>
          <p:cNvSpPr/>
          <p:nvPr/>
        </p:nvSpPr>
        <p:spPr>
          <a:xfrm>
            <a:off x="2231136" y="1097280"/>
            <a:ext cx="347472" cy="347472"/>
          </a:xfrm>
          <a:prstGeom prst="ellipse">
            <a:avLst/>
          </a:prstGeom>
          <a:solidFill>
            <a:srgbClr val="0E7C86"/>
          </a:solidFill>
          <a:ln w="12700">
            <a:solidFill>
              <a:srgbClr val="FFFFFF"/>
            </a:solidFill>
            <a:prstDash val="solid"/>
          </a:ln>
        </p:spPr>
      </p:sp>
      <p:sp>
        <p:nvSpPr>
          <p:cNvPr id="12" name="Text 10"/>
          <p:cNvSpPr txBox="1"/>
          <p:nvPr/>
        </p:nvSpPr>
        <p:spPr>
          <a:xfrm>
            <a:off x="2231136"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2231136" y="1508760"/>
            <a:ext cx="1335024" cy="36576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Preprocessing</a:t>
            </a:r>
            <a:endParaRPr lang="en-US" sz="1200" dirty="0"/>
          </a:p>
        </p:txBody>
      </p:sp>
      <p:sp>
        <p:nvSpPr>
          <p:cNvPr id="14" name="Text 12"/>
          <p:cNvSpPr txBox="1"/>
          <p:nvPr/>
        </p:nvSpPr>
        <p:spPr>
          <a:xfrm>
            <a:off x="2231136" y="1901952"/>
            <a:ext cx="1335024" cy="640080"/>
          </a:xfrm>
          <a:prstGeom prst="rect">
            <a:avLst/>
          </a:prstGeom>
          <a:noFill/>
          <a:ln/>
        </p:spPr>
        <p:txBody>
          <a:bodyPr wrap="square" lIns="0" tIns="0" rIns="0" bIns="0" rtlCol="0" anchor="t"/>
          <a:lstStyle/>
          <a:p>
            <a:pPr indent="0" marL="0">
              <a:buNone/>
            </a:pPr>
            <a:r>
              <a:rPr lang="en-US" sz="1100" dirty="0">
                <a:solidFill>
                  <a:srgbClr val="222B3A"/>
                </a:solidFill>
                <a:latin typeface="Calibri" pitchFamily="34" charset="0"/>
                <a:ea typeface="Calibri" pitchFamily="34" charset="-122"/>
                <a:cs typeface="Calibri" pitchFamily="34" charset="-120"/>
              </a:rPr>
              <a:t>Data is checked and cleaned</a:t>
            </a:r>
            <a:endParaRPr lang="en-US" sz="1100" dirty="0"/>
          </a:p>
        </p:txBody>
      </p:sp>
      <p:sp>
        <p:nvSpPr>
          <p:cNvPr id="15" name="Shape 13"/>
          <p:cNvSpPr/>
          <p:nvPr/>
        </p:nvSpPr>
        <p:spPr>
          <a:xfrm>
            <a:off x="3785616" y="1005840"/>
            <a:ext cx="1554480" cy="1600200"/>
          </a:xfrm>
          <a:prstGeom prst="rect">
            <a:avLst/>
          </a:prstGeom>
          <a:solidFill>
            <a:srgbClr val="F4F7FA"/>
          </a:solidFill>
          <a:ln w="12700">
            <a:solidFill>
              <a:srgbClr val="DDE3EA"/>
            </a:solidFill>
            <a:prstDash val="solid"/>
          </a:ln>
        </p:spPr>
      </p:sp>
      <p:sp>
        <p:nvSpPr>
          <p:cNvPr id="16" name="Shape 14"/>
          <p:cNvSpPr/>
          <p:nvPr/>
        </p:nvSpPr>
        <p:spPr>
          <a:xfrm>
            <a:off x="3895344" y="1097280"/>
            <a:ext cx="347472" cy="347472"/>
          </a:xfrm>
          <a:prstGeom prst="ellipse">
            <a:avLst/>
          </a:prstGeom>
          <a:solidFill>
            <a:srgbClr val="0E7C86"/>
          </a:solidFill>
          <a:ln w="12700">
            <a:solidFill>
              <a:srgbClr val="FFFFFF"/>
            </a:solidFill>
            <a:prstDash val="solid"/>
          </a:ln>
        </p:spPr>
      </p:sp>
      <p:sp>
        <p:nvSpPr>
          <p:cNvPr id="17" name="Text 15"/>
          <p:cNvSpPr txBox="1"/>
          <p:nvPr/>
        </p:nvSpPr>
        <p:spPr>
          <a:xfrm>
            <a:off x="3895344"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3895344" y="1508760"/>
            <a:ext cx="1335024" cy="36576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Behaviour analysis</a:t>
            </a:r>
            <a:endParaRPr lang="en-US" sz="1200" dirty="0"/>
          </a:p>
        </p:txBody>
      </p:sp>
      <p:sp>
        <p:nvSpPr>
          <p:cNvPr id="19" name="Text 17"/>
          <p:cNvSpPr txBox="1"/>
          <p:nvPr/>
        </p:nvSpPr>
        <p:spPr>
          <a:xfrm>
            <a:off x="3895344" y="1901952"/>
            <a:ext cx="1335024" cy="640080"/>
          </a:xfrm>
          <a:prstGeom prst="rect">
            <a:avLst/>
          </a:prstGeom>
          <a:noFill/>
          <a:ln/>
        </p:spPr>
        <p:txBody>
          <a:bodyPr wrap="square" lIns="0" tIns="0" rIns="0" bIns="0" rtlCol="0" anchor="t"/>
          <a:lstStyle/>
          <a:p>
            <a:pPr indent="0" marL="0">
              <a:buNone/>
            </a:pPr>
            <a:r>
              <a:rPr lang="en-US" sz="1100" dirty="0">
                <a:solidFill>
                  <a:srgbClr val="222B3A"/>
                </a:solidFill>
                <a:latin typeface="Calibri" pitchFamily="34" charset="0"/>
                <a:ea typeface="Calibri" pitchFamily="34" charset="-122"/>
                <a:cs typeface="Calibri" pitchFamily="34" charset="-120"/>
              </a:rPr>
              <a:t>Amount, frequency, location, history</a:t>
            </a:r>
            <a:endParaRPr lang="en-US" sz="1100" dirty="0"/>
          </a:p>
        </p:txBody>
      </p:sp>
      <p:sp>
        <p:nvSpPr>
          <p:cNvPr id="20" name="Shape 18"/>
          <p:cNvSpPr/>
          <p:nvPr/>
        </p:nvSpPr>
        <p:spPr>
          <a:xfrm>
            <a:off x="5449824" y="1005840"/>
            <a:ext cx="1554480" cy="1600200"/>
          </a:xfrm>
          <a:prstGeom prst="rect">
            <a:avLst/>
          </a:prstGeom>
          <a:solidFill>
            <a:srgbClr val="F4F7FA"/>
          </a:solidFill>
          <a:ln w="12700">
            <a:solidFill>
              <a:srgbClr val="DDE3EA"/>
            </a:solidFill>
            <a:prstDash val="solid"/>
          </a:ln>
        </p:spPr>
      </p:sp>
      <p:sp>
        <p:nvSpPr>
          <p:cNvPr id="21" name="Shape 19"/>
          <p:cNvSpPr/>
          <p:nvPr/>
        </p:nvSpPr>
        <p:spPr>
          <a:xfrm>
            <a:off x="5559552" y="1097280"/>
            <a:ext cx="347472" cy="347472"/>
          </a:xfrm>
          <a:prstGeom prst="ellipse">
            <a:avLst/>
          </a:prstGeom>
          <a:solidFill>
            <a:srgbClr val="0E7C86"/>
          </a:solidFill>
          <a:ln w="12700">
            <a:solidFill>
              <a:srgbClr val="FFFFFF"/>
            </a:solidFill>
            <a:prstDash val="solid"/>
          </a:ln>
        </p:spPr>
      </p:sp>
      <p:sp>
        <p:nvSpPr>
          <p:cNvPr id="22" name="Text 20"/>
          <p:cNvSpPr txBox="1"/>
          <p:nvPr/>
        </p:nvSpPr>
        <p:spPr>
          <a:xfrm>
            <a:off x="5559552"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5559552" y="1508760"/>
            <a:ext cx="1335024" cy="36576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Anomaly detection</a:t>
            </a:r>
            <a:endParaRPr lang="en-US" sz="1200" dirty="0"/>
          </a:p>
        </p:txBody>
      </p:sp>
      <p:sp>
        <p:nvSpPr>
          <p:cNvPr id="24" name="Text 22"/>
          <p:cNvSpPr txBox="1"/>
          <p:nvPr/>
        </p:nvSpPr>
        <p:spPr>
          <a:xfrm>
            <a:off x="5559552" y="1901952"/>
            <a:ext cx="1335024" cy="640080"/>
          </a:xfrm>
          <a:prstGeom prst="rect">
            <a:avLst/>
          </a:prstGeom>
          <a:noFill/>
          <a:ln/>
        </p:spPr>
        <p:txBody>
          <a:bodyPr wrap="square" lIns="0" tIns="0" rIns="0" bIns="0" rtlCol="0" anchor="t"/>
          <a:lstStyle/>
          <a:p>
            <a:pPr indent="0" marL="0">
              <a:buNone/>
            </a:pPr>
            <a:r>
              <a:rPr lang="en-US" sz="1100" dirty="0">
                <a:solidFill>
                  <a:srgbClr val="222B3A"/>
                </a:solidFill>
                <a:latin typeface="Calibri" pitchFamily="34" charset="0"/>
                <a:ea typeface="Calibri" pitchFamily="34" charset="-122"/>
                <a:cs typeface="Calibri" pitchFamily="34" charset="-120"/>
              </a:rPr>
              <a:t>Finds unusual patterns</a:t>
            </a:r>
            <a:endParaRPr lang="en-US" sz="1100" dirty="0"/>
          </a:p>
        </p:txBody>
      </p:sp>
      <p:sp>
        <p:nvSpPr>
          <p:cNvPr id="25" name="Shape 23"/>
          <p:cNvSpPr/>
          <p:nvPr/>
        </p:nvSpPr>
        <p:spPr>
          <a:xfrm>
            <a:off x="7114032" y="1005840"/>
            <a:ext cx="1554480" cy="1600200"/>
          </a:xfrm>
          <a:prstGeom prst="rect">
            <a:avLst/>
          </a:prstGeom>
          <a:solidFill>
            <a:srgbClr val="F4F7FA"/>
          </a:solidFill>
          <a:ln w="12700">
            <a:solidFill>
              <a:srgbClr val="DDE3EA"/>
            </a:solidFill>
            <a:prstDash val="solid"/>
          </a:ln>
        </p:spPr>
      </p:sp>
      <p:sp>
        <p:nvSpPr>
          <p:cNvPr id="26" name="Shape 24"/>
          <p:cNvSpPr/>
          <p:nvPr/>
        </p:nvSpPr>
        <p:spPr>
          <a:xfrm>
            <a:off x="7223760" y="1097280"/>
            <a:ext cx="347472" cy="347472"/>
          </a:xfrm>
          <a:prstGeom prst="ellipse">
            <a:avLst/>
          </a:prstGeom>
          <a:solidFill>
            <a:srgbClr val="0E7C86"/>
          </a:solidFill>
          <a:ln w="12700">
            <a:solidFill>
              <a:srgbClr val="FFFFFF"/>
            </a:solidFill>
            <a:prstDash val="solid"/>
          </a:ln>
        </p:spPr>
      </p:sp>
      <p:sp>
        <p:nvSpPr>
          <p:cNvPr id="27" name="Text 25"/>
          <p:cNvSpPr txBox="1"/>
          <p:nvPr/>
        </p:nvSpPr>
        <p:spPr>
          <a:xfrm>
            <a:off x="7223760" y="10972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7223760" y="1508760"/>
            <a:ext cx="1335024" cy="36576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Risk scoring</a:t>
            </a:r>
            <a:endParaRPr lang="en-US" sz="1200" dirty="0"/>
          </a:p>
        </p:txBody>
      </p:sp>
      <p:sp>
        <p:nvSpPr>
          <p:cNvPr id="29" name="Text 27"/>
          <p:cNvSpPr txBox="1"/>
          <p:nvPr/>
        </p:nvSpPr>
        <p:spPr>
          <a:xfrm>
            <a:off x="7223760" y="1901952"/>
            <a:ext cx="1335024" cy="640080"/>
          </a:xfrm>
          <a:prstGeom prst="rect">
            <a:avLst/>
          </a:prstGeom>
          <a:noFill/>
          <a:ln/>
        </p:spPr>
        <p:txBody>
          <a:bodyPr wrap="square" lIns="0" tIns="0" rIns="0" bIns="0" rtlCol="0" anchor="t"/>
          <a:lstStyle/>
          <a:p>
            <a:pPr indent="0" marL="0">
              <a:buNone/>
            </a:pPr>
            <a:r>
              <a:rPr lang="en-US" sz="1100" dirty="0">
                <a:solidFill>
                  <a:srgbClr val="222B3A"/>
                </a:solidFill>
                <a:latin typeface="Calibri" pitchFamily="34" charset="0"/>
                <a:ea typeface="Calibri" pitchFamily="34" charset="-122"/>
                <a:cs typeface="Calibri" pitchFamily="34" charset="-120"/>
              </a:rPr>
              <a:t>Scores cases for priority</a:t>
            </a:r>
            <a:endParaRPr lang="en-US" sz="1100" dirty="0"/>
          </a:p>
        </p:txBody>
      </p:sp>
      <p:sp>
        <p:nvSpPr>
          <p:cNvPr id="30" name="Shape 28"/>
          <p:cNvSpPr/>
          <p:nvPr/>
        </p:nvSpPr>
        <p:spPr>
          <a:xfrm>
            <a:off x="457200" y="2788920"/>
            <a:ext cx="1554480" cy="1600200"/>
          </a:xfrm>
          <a:prstGeom prst="rect">
            <a:avLst/>
          </a:prstGeom>
          <a:solidFill>
            <a:srgbClr val="F4F7FA"/>
          </a:solidFill>
          <a:ln w="12700">
            <a:solidFill>
              <a:srgbClr val="DDE3EA"/>
            </a:solidFill>
            <a:prstDash val="solid"/>
          </a:ln>
        </p:spPr>
      </p:sp>
      <p:sp>
        <p:nvSpPr>
          <p:cNvPr id="31" name="Shape 29"/>
          <p:cNvSpPr/>
          <p:nvPr/>
        </p:nvSpPr>
        <p:spPr>
          <a:xfrm>
            <a:off x="566928" y="2880360"/>
            <a:ext cx="347472" cy="347472"/>
          </a:xfrm>
          <a:prstGeom prst="ellipse">
            <a:avLst/>
          </a:prstGeom>
          <a:solidFill>
            <a:srgbClr val="0E7C86"/>
          </a:solidFill>
          <a:ln w="12700">
            <a:solidFill>
              <a:srgbClr val="FFFFFF"/>
            </a:solidFill>
            <a:prstDash val="solid"/>
          </a:ln>
        </p:spPr>
      </p:sp>
      <p:sp>
        <p:nvSpPr>
          <p:cNvPr id="32" name="Text 30"/>
          <p:cNvSpPr txBox="1"/>
          <p:nvPr/>
        </p:nvSpPr>
        <p:spPr>
          <a:xfrm>
            <a:off x="566928" y="28803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566928" y="3291840"/>
            <a:ext cx="1335024" cy="36576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Alert creation</a:t>
            </a:r>
            <a:endParaRPr lang="en-US" sz="1200" dirty="0"/>
          </a:p>
        </p:txBody>
      </p:sp>
      <p:sp>
        <p:nvSpPr>
          <p:cNvPr id="34" name="Text 32"/>
          <p:cNvSpPr txBox="1"/>
          <p:nvPr/>
        </p:nvSpPr>
        <p:spPr>
          <a:xfrm>
            <a:off x="566928" y="3685032"/>
            <a:ext cx="1335024" cy="640080"/>
          </a:xfrm>
          <a:prstGeom prst="rect">
            <a:avLst/>
          </a:prstGeom>
          <a:noFill/>
          <a:ln/>
        </p:spPr>
        <p:txBody>
          <a:bodyPr wrap="square" lIns="0" tIns="0" rIns="0" bIns="0" rtlCol="0" anchor="t"/>
          <a:lstStyle/>
          <a:p>
            <a:pPr indent="0" marL="0">
              <a:buNone/>
            </a:pPr>
            <a:r>
              <a:rPr lang="en-US" sz="1100" dirty="0">
                <a:solidFill>
                  <a:srgbClr val="222B3A"/>
                </a:solidFill>
                <a:latin typeface="Calibri" pitchFamily="34" charset="0"/>
                <a:ea typeface="Calibri" pitchFamily="34" charset="-122"/>
                <a:cs typeface="Calibri" pitchFamily="34" charset="-120"/>
              </a:rPr>
              <a:t>High-risk cases raised as alerts</a:t>
            </a:r>
            <a:endParaRPr lang="en-US" sz="1100" dirty="0"/>
          </a:p>
        </p:txBody>
      </p:sp>
      <p:sp>
        <p:nvSpPr>
          <p:cNvPr id="35" name="Shape 33"/>
          <p:cNvSpPr/>
          <p:nvPr/>
        </p:nvSpPr>
        <p:spPr>
          <a:xfrm>
            <a:off x="2121408" y="2788920"/>
            <a:ext cx="1554480" cy="1600200"/>
          </a:xfrm>
          <a:prstGeom prst="rect">
            <a:avLst/>
          </a:prstGeom>
          <a:solidFill>
            <a:srgbClr val="FBF1DC"/>
          </a:solidFill>
          <a:ln w="12700">
            <a:solidFill>
              <a:srgbClr val="E0A030"/>
            </a:solidFill>
            <a:prstDash val="solid"/>
          </a:ln>
        </p:spPr>
      </p:sp>
      <p:sp>
        <p:nvSpPr>
          <p:cNvPr id="36" name="Shape 34"/>
          <p:cNvSpPr/>
          <p:nvPr/>
        </p:nvSpPr>
        <p:spPr>
          <a:xfrm>
            <a:off x="2231136" y="2880360"/>
            <a:ext cx="347472" cy="347472"/>
          </a:xfrm>
          <a:prstGeom prst="ellipse">
            <a:avLst/>
          </a:prstGeom>
          <a:solidFill>
            <a:srgbClr val="0E7C86"/>
          </a:solidFill>
          <a:ln w="12700">
            <a:solidFill>
              <a:srgbClr val="FFFFFF"/>
            </a:solidFill>
            <a:prstDash val="solid"/>
          </a:ln>
        </p:spPr>
      </p:sp>
      <p:sp>
        <p:nvSpPr>
          <p:cNvPr id="37" name="Text 35"/>
          <p:cNvSpPr txBox="1"/>
          <p:nvPr/>
        </p:nvSpPr>
        <p:spPr>
          <a:xfrm>
            <a:off x="2231136" y="28803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8" name="Text 36"/>
          <p:cNvSpPr txBox="1"/>
          <p:nvPr/>
        </p:nvSpPr>
        <p:spPr>
          <a:xfrm>
            <a:off x="2231136" y="3291840"/>
            <a:ext cx="1335024" cy="36576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GenAI assistance</a:t>
            </a:r>
            <a:endParaRPr lang="en-US" sz="1200" dirty="0"/>
          </a:p>
        </p:txBody>
      </p:sp>
      <p:sp>
        <p:nvSpPr>
          <p:cNvPr id="39" name="Text 37"/>
          <p:cNvSpPr txBox="1"/>
          <p:nvPr/>
        </p:nvSpPr>
        <p:spPr>
          <a:xfrm>
            <a:off x="2231136" y="3685032"/>
            <a:ext cx="1335024" cy="640080"/>
          </a:xfrm>
          <a:prstGeom prst="rect">
            <a:avLst/>
          </a:prstGeom>
          <a:noFill/>
          <a:ln/>
        </p:spPr>
        <p:txBody>
          <a:bodyPr wrap="square" lIns="0" tIns="0" rIns="0" bIns="0" rtlCol="0" anchor="t"/>
          <a:lstStyle/>
          <a:p>
            <a:pPr indent="0" marL="0">
              <a:buNone/>
            </a:pPr>
            <a:r>
              <a:rPr lang="en-US" sz="1100" dirty="0">
                <a:solidFill>
                  <a:srgbClr val="222B3A"/>
                </a:solidFill>
                <a:latin typeface="Calibri" pitchFamily="34" charset="0"/>
                <a:ea typeface="Calibri" pitchFamily="34" charset="-122"/>
                <a:cs typeface="Calibri" pitchFamily="34" charset="-120"/>
              </a:rPr>
              <a:t>Explains alert and risk factors</a:t>
            </a:r>
            <a:endParaRPr lang="en-US" sz="1100" dirty="0"/>
          </a:p>
        </p:txBody>
      </p:sp>
      <p:sp>
        <p:nvSpPr>
          <p:cNvPr id="40" name="Shape 38"/>
          <p:cNvSpPr/>
          <p:nvPr/>
        </p:nvSpPr>
        <p:spPr>
          <a:xfrm>
            <a:off x="3785616" y="2788920"/>
            <a:ext cx="1554480" cy="1600200"/>
          </a:xfrm>
          <a:prstGeom prst="rect">
            <a:avLst/>
          </a:prstGeom>
          <a:solidFill>
            <a:srgbClr val="F4F7FA"/>
          </a:solidFill>
          <a:ln w="12700">
            <a:solidFill>
              <a:srgbClr val="DDE3EA"/>
            </a:solidFill>
            <a:prstDash val="solid"/>
          </a:ln>
        </p:spPr>
      </p:sp>
      <p:sp>
        <p:nvSpPr>
          <p:cNvPr id="41" name="Shape 39"/>
          <p:cNvSpPr/>
          <p:nvPr/>
        </p:nvSpPr>
        <p:spPr>
          <a:xfrm>
            <a:off x="3895344" y="2880360"/>
            <a:ext cx="347472" cy="347472"/>
          </a:xfrm>
          <a:prstGeom prst="ellipse">
            <a:avLst/>
          </a:prstGeom>
          <a:solidFill>
            <a:srgbClr val="0E7C86"/>
          </a:solidFill>
          <a:ln w="12700">
            <a:solidFill>
              <a:srgbClr val="FFFFFF"/>
            </a:solidFill>
            <a:prstDash val="solid"/>
          </a:ln>
        </p:spPr>
      </p:sp>
      <p:sp>
        <p:nvSpPr>
          <p:cNvPr id="42" name="Text 40"/>
          <p:cNvSpPr txBox="1"/>
          <p:nvPr/>
        </p:nvSpPr>
        <p:spPr>
          <a:xfrm>
            <a:off x="3895344" y="28803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3" name="Text 41"/>
          <p:cNvSpPr txBox="1"/>
          <p:nvPr/>
        </p:nvSpPr>
        <p:spPr>
          <a:xfrm>
            <a:off x="3895344" y="3291840"/>
            <a:ext cx="1335024" cy="36576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Analyst review</a:t>
            </a:r>
            <a:endParaRPr lang="en-US" sz="1200" dirty="0"/>
          </a:p>
        </p:txBody>
      </p:sp>
      <p:sp>
        <p:nvSpPr>
          <p:cNvPr id="44" name="Text 42"/>
          <p:cNvSpPr txBox="1"/>
          <p:nvPr/>
        </p:nvSpPr>
        <p:spPr>
          <a:xfrm>
            <a:off x="3895344" y="3685032"/>
            <a:ext cx="1335024" cy="640080"/>
          </a:xfrm>
          <a:prstGeom prst="rect">
            <a:avLst/>
          </a:prstGeom>
          <a:noFill/>
          <a:ln/>
        </p:spPr>
        <p:txBody>
          <a:bodyPr wrap="square" lIns="0" tIns="0" rIns="0" bIns="0" rtlCol="0" anchor="t"/>
          <a:lstStyle/>
          <a:p>
            <a:pPr indent="0" marL="0">
              <a:buNone/>
            </a:pPr>
            <a:r>
              <a:rPr lang="en-US" sz="1100" dirty="0">
                <a:solidFill>
                  <a:srgbClr val="222B3A"/>
                </a:solidFill>
                <a:latin typeface="Calibri" pitchFamily="34" charset="0"/>
                <a:ea typeface="Calibri" pitchFamily="34" charset="-122"/>
                <a:cs typeface="Calibri" pitchFamily="34" charset="-120"/>
              </a:rPr>
              <a:t>Checks evidence and explanation</a:t>
            </a:r>
            <a:endParaRPr lang="en-US" sz="1100" dirty="0"/>
          </a:p>
        </p:txBody>
      </p:sp>
      <p:sp>
        <p:nvSpPr>
          <p:cNvPr id="45" name="Shape 43"/>
          <p:cNvSpPr/>
          <p:nvPr/>
        </p:nvSpPr>
        <p:spPr>
          <a:xfrm>
            <a:off x="5449824" y="2788920"/>
            <a:ext cx="1554480" cy="1600200"/>
          </a:xfrm>
          <a:prstGeom prst="rect">
            <a:avLst/>
          </a:prstGeom>
          <a:solidFill>
            <a:srgbClr val="F4F7FA"/>
          </a:solidFill>
          <a:ln w="12700">
            <a:solidFill>
              <a:srgbClr val="DDE3EA"/>
            </a:solidFill>
            <a:prstDash val="solid"/>
          </a:ln>
        </p:spPr>
      </p:sp>
      <p:sp>
        <p:nvSpPr>
          <p:cNvPr id="46" name="Shape 44"/>
          <p:cNvSpPr/>
          <p:nvPr/>
        </p:nvSpPr>
        <p:spPr>
          <a:xfrm>
            <a:off x="5559552" y="2880360"/>
            <a:ext cx="347472" cy="347472"/>
          </a:xfrm>
          <a:prstGeom prst="ellipse">
            <a:avLst/>
          </a:prstGeom>
          <a:solidFill>
            <a:srgbClr val="0E7C86"/>
          </a:solidFill>
          <a:ln w="12700">
            <a:solidFill>
              <a:srgbClr val="FFFFFF"/>
            </a:solidFill>
            <a:prstDash val="solid"/>
          </a:ln>
        </p:spPr>
      </p:sp>
      <p:sp>
        <p:nvSpPr>
          <p:cNvPr id="47" name="Text 45"/>
          <p:cNvSpPr txBox="1"/>
          <p:nvPr/>
        </p:nvSpPr>
        <p:spPr>
          <a:xfrm>
            <a:off x="5559552" y="28803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8" name="Text 46"/>
          <p:cNvSpPr txBox="1"/>
          <p:nvPr/>
        </p:nvSpPr>
        <p:spPr>
          <a:xfrm>
            <a:off x="5559552" y="3291840"/>
            <a:ext cx="1335024" cy="36576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Case management</a:t>
            </a:r>
            <a:endParaRPr lang="en-US" sz="1200" dirty="0"/>
          </a:p>
        </p:txBody>
      </p:sp>
      <p:sp>
        <p:nvSpPr>
          <p:cNvPr id="49" name="Text 47"/>
          <p:cNvSpPr txBox="1"/>
          <p:nvPr/>
        </p:nvSpPr>
        <p:spPr>
          <a:xfrm>
            <a:off x="5559552" y="3685032"/>
            <a:ext cx="1335024" cy="640080"/>
          </a:xfrm>
          <a:prstGeom prst="rect">
            <a:avLst/>
          </a:prstGeom>
          <a:noFill/>
          <a:ln/>
        </p:spPr>
        <p:txBody>
          <a:bodyPr wrap="square" lIns="0" tIns="0" rIns="0" bIns="0" rtlCol="0" anchor="t"/>
          <a:lstStyle/>
          <a:p>
            <a:pPr indent="0" marL="0">
              <a:buNone/>
            </a:pPr>
            <a:r>
              <a:rPr lang="en-US" sz="1100" dirty="0">
                <a:solidFill>
                  <a:srgbClr val="222B3A"/>
                </a:solidFill>
                <a:latin typeface="Calibri" pitchFamily="34" charset="0"/>
                <a:ea typeface="Calibri" pitchFamily="34" charset="-122"/>
                <a:cs typeface="Calibri" pitchFamily="34" charset="-120"/>
              </a:rPr>
              <a:t>Status and actions recorded</a:t>
            </a:r>
            <a:endParaRPr lang="en-US" sz="1100" dirty="0"/>
          </a:p>
        </p:txBody>
      </p:sp>
      <p:sp>
        <p:nvSpPr>
          <p:cNvPr id="50" name="Shape 48"/>
          <p:cNvSpPr/>
          <p:nvPr/>
        </p:nvSpPr>
        <p:spPr>
          <a:xfrm>
            <a:off x="7114032" y="2788920"/>
            <a:ext cx="1554480" cy="1600200"/>
          </a:xfrm>
          <a:prstGeom prst="rect">
            <a:avLst/>
          </a:prstGeom>
          <a:solidFill>
            <a:srgbClr val="F4F7FA"/>
          </a:solidFill>
          <a:ln w="12700">
            <a:solidFill>
              <a:srgbClr val="DDE3EA"/>
            </a:solidFill>
            <a:prstDash val="solid"/>
          </a:ln>
        </p:spPr>
      </p:sp>
      <p:sp>
        <p:nvSpPr>
          <p:cNvPr id="51" name="Shape 49"/>
          <p:cNvSpPr/>
          <p:nvPr/>
        </p:nvSpPr>
        <p:spPr>
          <a:xfrm>
            <a:off x="7223760" y="2880360"/>
            <a:ext cx="347472" cy="347472"/>
          </a:xfrm>
          <a:prstGeom prst="ellipse">
            <a:avLst/>
          </a:prstGeom>
          <a:solidFill>
            <a:srgbClr val="1F2A44"/>
          </a:solidFill>
          <a:ln w="12700">
            <a:solidFill>
              <a:srgbClr val="FFFFFF"/>
            </a:solidFill>
            <a:prstDash val="solid"/>
          </a:ln>
        </p:spPr>
      </p:sp>
      <p:sp>
        <p:nvSpPr>
          <p:cNvPr id="52" name="Text 50"/>
          <p:cNvSpPr txBox="1"/>
          <p:nvPr/>
        </p:nvSpPr>
        <p:spPr>
          <a:xfrm>
            <a:off x="7223760" y="28803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3" name="Text 51"/>
          <p:cNvSpPr txBox="1"/>
          <p:nvPr/>
        </p:nvSpPr>
        <p:spPr>
          <a:xfrm>
            <a:off x="7223760" y="3291840"/>
            <a:ext cx="1335024" cy="365760"/>
          </a:xfrm>
          <a:prstGeom prst="rect">
            <a:avLst/>
          </a:prstGeom>
          <a:noFill/>
          <a:ln/>
        </p:spPr>
        <p:txBody>
          <a:bodyPr wrap="square" lIns="0" tIns="0" rIns="0" bIns="0" rtlCol="0" anchor="t"/>
          <a:lstStyle/>
          <a:p>
            <a:pPr indent="0" marL="0">
              <a:buNone/>
            </a:pPr>
            <a:r>
              <a:rPr lang="en-US" sz="1200" b="1" dirty="0">
                <a:solidFill>
                  <a:srgbClr val="1F2A44"/>
                </a:solidFill>
                <a:latin typeface="Calibri" pitchFamily="34" charset="0"/>
                <a:ea typeface="Calibri" pitchFamily="34" charset="-122"/>
                <a:cs typeface="Calibri" pitchFamily="34" charset="-120"/>
              </a:rPr>
              <a:t>Human validation</a:t>
            </a:r>
            <a:endParaRPr lang="en-US" sz="1200" dirty="0"/>
          </a:p>
        </p:txBody>
      </p:sp>
      <p:sp>
        <p:nvSpPr>
          <p:cNvPr id="54" name="Text 52"/>
          <p:cNvSpPr txBox="1"/>
          <p:nvPr/>
        </p:nvSpPr>
        <p:spPr>
          <a:xfrm>
            <a:off x="7223760" y="3685032"/>
            <a:ext cx="1335024" cy="640080"/>
          </a:xfrm>
          <a:prstGeom prst="rect">
            <a:avLst/>
          </a:prstGeom>
          <a:noFill/>
          <a:ln/>
        </p:spPr>
        <p:txBody>
          <a:bodyPr wrap="square" lIns="0" tIns="0" rIns="0" bIns="0" rtlCol="0" anchor="t"/>
          <a:lstStyle/>
          <a:p>
            <a:pPr indent="0" marL="0">
              <a:buNone/>
            </a:pPr>
            <a:r>
              <a:rPr lang="en-US" sz="1100" dirty="0">
                <a:solidFill>
                  <a:srgbClr val="222B3A"/>
                </a:solidFill>
                <a:latin typeface="Calibri" pitchFamily="34" charset="0"/>
                <a:ea typeface="Calibri" pitchFamily="34" charset="-122"/>
                <a:cs typeface="Calibri" pitchFamily="34" charset="-120"/>
              </a:rPr>
              <a:t>Final decision by a person</a:t>
            </a:r>
            <a:endParaRPr lang="en-US" sz="1100" dirty="0"/>
          </a:p>
        </p:txBody>
      </p:sp>
      <p:sp>
        <p:nvSpPr>
          <p:cNvPr id="55" name="Text 53"/>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200" i="1" dirty="0">
                <a:solidFill>
                  <a:srgbClr val="5B6677"/>
                </a:solidFill>
                <a:latin typeface="Calibri" pitchFamily="34" charset="0"/>
                <a:ea typeface="Calibri" pitchFamily="34" charset="-122"/>
                <a:cs typeface="Calibri" pitchFamily="34" charset="-120"/>
              </a:rPr>
              <a:t>Risk scores prioritise investigation; they do not establish legal guilt.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2A44"/>
          </a:solidFill>
          <a:ln w="12700">
            <a:solidFill>
              <a:srgbClr val="1F2A44"/>
            </a:solidFill>
            <a:prstDash val="solid"/>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System Design &amp; Requirements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1000" dirty="0">
                <a:solidFill>
                  <a:srgbClr val="5B6677"/>
                </a:solidFill>
                <a:latin typeface="Calibri" pitchFamily="34" charset="0"/>
                <a:ea typeface="Calibri" pitchFamily="34" charset="-122"/>
                <a:cs typeface="Calibri" pitchFamily="34" charset="-120"/>
              </a:rPr>
              <a:t>KPRIT · Dept. of CSE (AI&amp;ML)   |   7</a:t>
            </a:r>
            <a:endParaRPr lang="en-US" sz="1000" dirty="0"/>
          </a:p>
        </p:txBody>
      </p:sp>
      <p:sp>
        <p:nvSpPr>
          <p:cNvPr id="5" name="Shape 3"/>
          <p:cNvSpPr/>
          <p:nvPr/>
        </p:nvSpPr>
        <p:spPr>
          <a:xfrm>
            <a:off x="457200" y="1051560"/>
            <a:ext cx="2651760" cy="3520440"/>
          </a:xfrm>
          <a:prstGeom prst="rect">
            <a:avLst/>
          </a:prstGeom>
          <a:solidFill>
            <a:srgbClr val="F4F7FA"/>
          </a:solidFill>
          <a:ln w="9525">
            <a:solidFill>
              <a:srgbClr val="DDE3EA"/>
            </a:solidFill>
            <a:prstDash val="solid"/>
          </a:ln>
        </p:spPr>
      </p:sp>
      <p:sp>
        <p:nvSpPr>
          <p:cNvPr id="6" name="Shape 4"/>
          <p:cNvSpPr/>
          <p:nvPr/>
        </p:nvSpPr>
        <p:spPr>
          <a:xfrm>
            <a:off x="457200" y="1051560"/>
            <a:ext cx="73152" cy="3520440"/>
          </a:xfrm>
          <a:prstGeom prst="rect">
            <a:avLst/>
          </a:prstGeom>
          <a:solidFill>
            <a:srgbClr val="0E7C86"/>
          </a:solidFill>
          <a:ln w="12700">
            <a:solidFill>
              <a:srgbClr val="0E7C86"/>
            </a:solidFill>
            <a:prstDash val="solid"/>
          </a:ln>
        </p:spPr>
      </p:sp>
      <p:sp>
        <p:nvSpPr>
          <p:cNvPr id="7" name="Text 5"/>
          <p:cNvSpPr txBox="1"/>
          <p:nvPr/>
        </p:nvSpPr>
        <p:spPr>
          <a:xfrm>
            <a:off x="640080" y="1124712"/>
            <a:ext cx="237744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UML &amp; design</a:t>
            </a:r>
            <a:endParaRPr lang="en-US" sz="1400" dirty="0"/>
          </a:p>
        </p:txBody>
      </p:sp>
      <p:sp>
        <p:nvSpPr>
          <p:cNvPr id="8" name="Text 6"/>
          <p:cNvSpPr txBox="1"/>
          <p:nvPr/>
        </p:nvSpPr>
        <p:spPr>
          <a:xfrm>
            <a:off x="640080" y="1508760"/>
            <a:ext cx="237744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Class, use case, sequence</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Component and deployment</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Activity diagram</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DFD Level 0 and Level 1</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Web server, ML server, PostgreSQL over HTTPS / REST</a:t>
            </a:r>
            <a:endParaRPr lang="en-US" sz="1200" dirty="0"/>
          </a:p>
        </p:txBody>
      </p:sp>
      <p:sp>
        <p:nvSpPr>
          <p:cNvPr id="9" name="Shape 7"/>
          <p:cNvSpPr/>
          <p:nvPr/>
        </p:nvSpPr>
        <p:spPr>
          <a:xfrm>
            <a:off x="3246120" y="1051560"/>
            <a:ext cx="2651760" cy="3520440"/>
          </a:xfrm>
          <a:prstGeom prst="rect">
            <a:avLst/>
          </a:prstGeom>
          <a:solidFill>
            <a:srgbClr val="F4F7FA"/>
          </a:solidFill>
          <a:ln w="9525">
            <a:solidFill>
              <a:srgbClr val="DDE3EA"/>
            </a:solidFill>
            <a:prstDash val="solid"/>
          </a:ln>
        </p:spPr>
      </p:sp>
      <p:sp>
        <p:nvSpPr>
          <p:cNvPr id="10" name="Shape 8"/>
          <p:cNvSpPr/>
          <p:nvPr/>
        </p:nvSpPr>
        <p:spPr>
          <a:xfrm>
            <a:off x="3246120" y="1051560"/>
            <a:ext cx="73152" cy="3520440"/>
          </a:xfrm>
          <a:prstGeom prst="rect">
            <a:avLst/>
          </a:prstGeom>
          <a:solidFill>
            <a:srgbClr val="0E7C86"/>
          </a:solidFill>
          <a:ln w="12700">
            <a:solidFill>
              <a:srgbClr val="0E7C86"/>
            </a:solidFill>
            <a:prstDash val="solid"/>
          </a:ln>
        </p:spPr>
      </p:sp>
      <p:sp>
        <p:nvSpPr>
          <p:cNvPr id="11" name="Text 9"/>
          <p:cNvSpPr txBox="1"/>
          <p:nvPr/>
        </p:nvSpPr>
        <p:spPr>
          <a:xfrm>
            <a:off x="3429000" y="1124712"/>
            <a:ext cx="237744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Functional</a:t>
            </a:r>
            <a:endParaRPr lang="en-US" sz="1400" dirty="0"/>
          </a:p>
        </p:txBody>
      </p:sp>
      <p:sp>
        <p:nvSpPr>
          <p:cNvPr id="12" name="Text 10"/>
          <p:cNvSpPr txBox="1"/>
          <p:nvPr/>
        </p:nvSpPr>
        <p:spPr>
          <a:xfrm>
            <a:off x="3429000" y="1508760"/>
            <a:ext cx="237744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Authentication</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Transaction monitoring</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Anomaly detection</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Risk scoring</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Alert generation and explanation</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GenAI summaries and reports</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Dashboard and audit logging</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Human validation</a:t>
            </a:r>
            <a:endParaRPr lang="en-US" sz="1200" dirty="0"/>
          </a:p>
        </p:txBody>
      </p:sp>
      <p:sp>
        <p:nvSpPr>
          <p:cNvPr id="13" name="Shape 11"/>
          <p:cNvSpPr/>
          <p:nvPr/>
        </p:nvSpPr>
        <p:spPr>
          <a:xfrm>
            <a:off x="6035040" y="1051560"/>
            <a:ext cx="2651760" cy="3520440"/>
          </a:xfrm>
          <a:prstGeom prst="rect">
            <a:avLst/>
          </a:prstGeom>
          <a:solidFill>
            <a:srgbClr val="F4F7FA"/>
          </a:solidFill>
          <a:ln w="9525">
            <a:solidFill>
              <a:srgbClr val="DDE3EA"/>
            </a:solidFill>
            <a:prstDash val="solid"/>
          </a:ln>
        </p:spPr>
      </p:sp>
      <p:sp>
        <p:nvSpPr>
          <p:cNvPr id="14" name="Shape 12"/>
          <p:cNvSpPr/>
          <p:nvPr/>
        </p:nvSpPr>
        <p:spPr>
          <a:xfrm>
            <a:off x="6035040" y="1051560"/>
            <a:ext cx="73152" cy="3520440"/>
          </a:xfrm>
          <a:prstGeom prst="rect">
            <a:avLst/>
          </a:prstGeom>
          <a:solidFill>
            <a:srgbClr val="E0A030"/>
          </a:solidFill>
          <a:ln w="12700">
            <a:solidFill>
              <a:srgbClr val="E0A030"/>
            </a:solidFill>
            <a:prstDash val="solid"/>
          </a:ln>
        </p:spPr>
      </p:sp>
      <p:sp>
        <p:nvSpPr>
          <p:cNvPr id="15" name="Text 13"/>
          <p:cNvSpPr txBox="1"/>
          <p:nvPr/>
        </p:nvSpPr>
        <p:spPr>
          <a:xfrm>
            <a:off x="6217920" y="1124712"/>
            <a:ext cx="237744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Non-functional &amp; stack</a:t>
            </a:r>
            <a:endParaRPr lang="en-US" sz="1400" dirty="0"/>
          </a:p>
        </p:txBody>
      </p:sp>
      <p:sp>
        <p:nvSpPr>
          <p:cNvPr id="16" name="Text 14"/>
          <p:cNvSpPr txBox="1"/>
          <p:nvPr/>
        </p:nvSpPr>
        <p:spPr>
          <a:xfrm>
            <a:off x="6217920" y="1508760"/>
            <a:ext cx="237744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Security, reliability, scalability</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Usability, explainability, maintainability</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Python, Flask, ML stack</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GenAI service, PostgreSQL</a:t>
            </a:r>
            <a:endParaRPr lang="en-US" sz="1200" dirty="0"/>
          </a:p>
          <a:p>
            <a:pPr marL="342900" indent="-342900">
              <a:spcAft>
                <a:spcPts val="600"/>
              </a:spcAft>
              <a:buSzPct val="100000"/>
              <a:buChar char="•"/>
            </a:pPr>
            <a:r>
              <a:rPr lang="en-US" sz="1200" dirty="0">
                <a:solidFill>
                  <a:srgbClr val="222B3A"/>
                </a:solidFill>
                <a:latin typeface="Calibri" pitchFamily="34" charset="0"/>
                <a:ea typeface="Calibri" pitchFamily="34" charset="-122"/>
                <a:cs typeface="Calibri" pitchFamily="34" charset="-120"/>
              </a:rPr>
              <a:t>HTML5, CSS3, JavaScript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2A44"/>
          </a:solidFill>
          <a:ln w="12700">
            <a:solidFill>
              <a:srgbClr val="1F2A44"/>
            </a:solidFill>
            <a:prstDash val="solid"/>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Advantages &amp; Limitations</a:t>
            </a:r>
            <a:endParaRPr lang="en-US" sz="2600" dirty="0"/>
          </a:p>
        </p:txBody>
      </p:sp>
      <p:sp>
        <p:nvSpPr>
          <p:cNvPr id="4" name="Text 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1000" dirty="0">
                <a:solidFill>
                  <a:srgbClr val="5B6677"/>
                </a:solidFill>
                <a:latin typeface="Calibri" pitchFamily="34" charset="0"/>
                <a:ea typeface="Calibri" pitchFamily="34" charset="-122"/>
                <a:cs typeface="Calibri" pitchFamily="34" charset="-120"/>
              </a:rPr>
              <a:t>KPRIT · Dept. of CSE (AI&amp;ML)   |   8</a:t>
            </a:r>
            <a:endParaRPr lang="en-US" sz="1000" dirty="0"/>
          </a:p>
        </p:txBody>
      </p:sp>
      <p:sp>
        <p:nvSpPr>
          <p:cNvPr id="5" name="Shape 3"/>
          <p:cNvSpPr/>
          <p:nvPr/>
        </p:nvSpPr>
        <p:spPr>
          <a:xfrm>
            <a:off x="457200" y="1051560"/>
            <a:ext cx="3931920" cy="3520440"/>
          </a:xfrm>
          <a:prstGeom prst="rect">
            <a:avLst/>
          </a:prstGeom>
          <a:solidFill>
            <a:srgbClr val="F4F7FA"/>
          </a:solidFill>
          <a:ln w="9525">
            <a:solidFill>
              <a:srgbClr val="DDE3EA"/>
            </a:solidFill>
            <a:prstDash val="solid"/>
          </a:ln>
        </p:spPr>
      </p:sp>
      <p:sp>
        <p:nvSpPr>
          <p:cNvPr id="6" name="Shape 4"/>
          <p:cNvSpPr/>
          <p:nvPr/>
        </p:nvSpPr>
        <p:spPr>
          <a:xfrm>
            <a:off x="457200" y="1051560"/>
            <a:ext cx="73152" cy="3520440"/>
          </a:xfrm>
          <a:prstGeom prst="rect">
            <a:avLst/>
          </a:prstGeom>
          <a:solidFill>
            <a:srgbClr val="0E7C86"/>
          </a:solidFill>
          <a:ln w="12700">
            <a:solidFill>
              <a:srgbClr val="0E7C86"/>
            </a:solidFill>
            <a:prstDash val="solid"/>
          </a:ln>
        </p:spPr>
      </p:sp>
      <p:sp>
        <p:nvSpPr>
          <p:cNvPr id="7" name="Text 5"/>
          <p:cNvSpPr txBox="1"/>
          <p:nvPr/>
        </p:nvSpPr>
        <p:spPr>
          <a:xfrm>
            <a:off x="640080" y="1124712"/>
            <a:ext cx="365760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Advantages</a:t>
            </a:r>
            <a:endParaRPr lang="en-US" sz="1400" dirty="0"/>
          </a:p>
        </p:txBody>
      </p:sp>
      <p:sp>
        <p:nvSpPr>
          <p:cNvPr id="8" name="Text 6"/>
          <p:cNvSpPr txBox="1"/>
          <p:nvPr/>
        </p:nvSpPr>
        <p:spPr>
          <a:xfrm>
            <a:off x="640080" y="1508760"/>
            <a:ext cx="356616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Explainable alerts with clear risk factors</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Risk-based prioritisation of cases</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Less manual summarisation and reporting</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Secure access with full audit trail</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Modular design, easy to scale and update</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Human validation of every decision</a:t>
            </a:r>
            <a:endParaRPr lang="en-US" sz="1300" dirty="0"/>
          </a:p>
        </p:txBody>
      </p:sp>
      <p:sp>
        <p:nvSpPr>
          <p:cNvPr id="9" name="Shape 7"/>
          <p:cNvSpPr/>
          <p:nvPr/>
        </p:nvSpPr>
        <p:spPr>
          <a:xfrm>
            <a:off x="4754880" y="1051560"/>
            <a:ext cx="3931920" cy="3520440"/>
          </a:xfrm>
          <a:prstGeom prst="rect">
            <a:avLst/>
          </a:prstGeom>
          <a:solidFill>
            <a:srgbClr val="F4F7FA"/>
          </a:solidFill>
          <a:ln w="9525">
            <a:solidFill>
              <a:srgbClr val="DDE3EA"/>
            </a:solidFill>
            <a:prstDash val="solid"/>
          </a:ln>
        </p:spPr>
      </p:sp>
      <p:sp>
        <p:nvSpPr>
          <p:cNvPr id="10" name="Shape 8"/>
          <p:cNvSpPr/>
          <p:nvPr/>
        </p:nvSpPr>
        <p:spPr>
          <a:xfrm>
            <a:off x="4754880" y="1051560"/>
            <a:ext cx="73152" cy="3520440"/>
          </a:xfrm>
          <a:prstGeom prst="rect">
            <a:avLst/>
          </a:prstGeom>
          <a:solidFill>
            <a:srgbClr val="E0A030"/>
          </a:solidFill>
          <a:ln w="12700">
            <a:solidFill>
              <a:srgbClr val="E0A030"/>
            </a:solidFill>
            <a:prstDash val="solid"/>
          </a:ln>
        </p:spPr>
      </p:sp>
      <p:sp>
        <p:nvSpPr>
          <p:cNvPr id="11" name="Text 9"/>
          <p:cNvSpPr txBox="1"/>
          <p:nvPr/>
        </p:nvSpPr>
        <p:spPr>
          <a:xfrm>
            <a:off x="4937760" y="1124712"/>
            <a:ext cx="365760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Limitations</a:t>
            </a:r>
            <a:endParaRPr lang="en-US" sz="1400" dirty="0"/>
          </a:p>
        </p:txBody>
      </p:sp>
      <p:sp>
        <p:nvSpPr>
          <p:cNvPr id="12" name="Text 10"/>
          <p:cNvSpPr txBox="1"/>
          <p:nvPr/>
        </p:nvSpPr>
        <p:spPr>
          <a:xfrm>
            <a:off x="4937760" y="1508760"/>
            <a:ext cx="356616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Accuracy depends on data quality</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Risk scores can be affected by biased data</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GenAI text may be wrong, so analysts must verify</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Security controls must be implemented correctly</a:t>
            </a:r>
            <a:endParaRPr lang="en-US" sz="1300" dirty="0"/>
          </a:p>
          <a:p>
            <a:pPr marL="342900" indent="-342900">
              <a:spcAft>
                <a:spcPts val="600"/>
              </a:spcAft>
              <a:buSzPct val="100000"/>
              <a:buChar char="•"/>
            </a:pPr>
            <a:r>
              <a:rPr lang="en-US" sz="1300" dirty="0">
                <a:solidFill>
                  <a:srgbClr val="222B3A"/>
                </a:solidFill>
                <a:latin typeface="Calibri" pitchFamily="34" charset="0"/>
                <a:ea typeface="Calibri" pitchFamily="34" charset="-122"/>
                <a:cs typeface="Calibri" pitchFamily="34" charset="-120"/>
              </a:rPr>
              <a:t>Cannot guarantee every laundering pattern is found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2A44"/>
        </a:solidFill>
      </p:bgPr>
    </p:bg>
    <p:spTree>
      <p:nvGrpSpPr>
        <p:cNvPr id="1" name=""/>
        <p:cNvGrpSpPr/>
        <p:nvPr/>
      </p:nvGrpSpPr>
      <p:grpSpPr>
        <a:xfrm>
          <a:off x="0" y="0"/>
          <a:ext cx="0" cy="0"/>
          <a:chOff x="0" y="0"/>
          <a:chExt cx="0" cy="0"/>
        </a:xfrm>
      </p:grpSpPr>
      <p:sp>
        <p:nvSpPr>
          <p:cNvPr id="2" name="Shape 0"/>
          <p:cNvSpPr/>
          <p:nvPr/>
        </p:nvSpPr>
        <p:spPr>
          <a:xfrm>
            <a:off x="3840480" y="2697480"/>
            <a:ext cx="1463040" cy="54864"/>
          </a:xfrm>
          <a:prstGeom prst="rect">
            <a:avLst/>
          </a:prstGeom>
          <a:solidFill>
            <a:srgbClr val="E0A030"/>
          </a:solidFill>
          <a:ln w="12700">
            <a:solidFill>
              <a:srgbClr val="E0A030"/>
            </a:solidFill>
            <a:prstDash val="solid"/>
          </a:ln>
        </p:spPr>
      </p:sp>
      <p:sp>
        <p:nvSpPr>
          <p:cNvPr id="3" name="Text 1"/>
          <p:cNvSpPr txBox="1"/>
          <p:nvPr/>
        </p:nvSpPr>
        <p:spPr>
          <a:xfrm>
            <a:off x="457200" y="1463040"/>
            <a:ext cx="8229600" cy="109728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txBox="1"/>
          <p:nvPr/>
        </p:nvSpPr>
        <p:spPr>
          <a:xfrm>
            <a:off x="457200" y="2926080"/>
            <a:ext cx="8229600" cy="457200"/>
          </a:xfrm>
          <a:prstGeom prst="rect">
            <a:avLst/>
          </a:prstGeom>
          <a:noFill/>
          <a:ln/>
        </p:spPr>
        <p:txBody>
          <a:bodyPr wrap="square" lIns="0" tIns="0" rIns="0" bIns="0" rtlCol="0" anchor="ctr"/>
          <a:lstStyle/>
          <a:p>
            <a:pPr algn="ctr" indent="0" marL="0">
              <a:buNone/>
            </a:pPr>
            <a:r>
              <a:rPr lang="en-US" sz="2000" dirty="0">
                <a:solidFill>
                  <a:srgbClr val="C9D3E3"/>
                </a:solidFill>
                <a:latin typeface="Calibri" pitchFamily="34" charset="0"/>
                <a:ea typeface="Calibri" pitchFamily="34" charset="-122"/>
                <a:cs typeface="Calibri" pitchFamily="34" charset="-120"/>
              </a:rPr>
              <a:t>Questions are welcome</a:t>
            </a:r>
            <a:endParaRPr lang="en-US" sz="2000" dirty="0"/>
          </a:p>
        </p:txBody>
      </p:sp>
      <p:sp>
        <p:nvSpPr>
          <p:cNvPr id="5" name="Text 3"/>
          <p:cNvSpPr txBox="1"/>
          <p:nvPr/>
        </p:nvSpPr>
        <p:spPr>
          <a:xfrm>
            <a:off x="457200" y="4206240"/>
            <a:ext cx="8229600" cy="365760"/>
          </a:xfrm>
          <a:prstGeom prst="rect">
            <a:avLst/>
          </a:prstGeom>
          <a:noFill/>
          <a:ln/>
        </p:spPr>
        <p:txBody>
          <a:bodyPr wrap="square" lIns="0" tIns="0" rIns="0" bIns="0" rtlCol="0" anchor="ctr"/>
          <a:lstStyle/>
          <a:p>
            <a:pPr algn="ctr" indent="0" marL="0">
              <a:buNone/>
            </a:pPr>
            <a:r>
              <a:rPr lang="en-US" sz="1200" dirty="0">
                <a:solidFill>
                  <a:srgbClr val="C9D3E3"/>
                </a:solidFill>
                <a:latin typeface="Calibri" pitchFamily="34" charset="0"/>
                <a:ea typeface="Calibri" pitchFamily="34" charset="-122"/>
                <a:cs typeface="Calibri" pitchFamily="34" charset="-120"/>
              </a:rPr>
              <a:t>GenAI-Assisted AML Compliance System · KPRIT, Dept. of CSE (AI&amp;ML)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GenAI-Assisted AML Compliance System</dc:title>
  <dc:subject>PptxGenJS Presentation</dc:subject>
  <dc:creator>PptxGenJS</dc:creator>
  <cp:lastModifiedBy>PptxGenJS</cp:lastModifiedBy>
  <cp:revision>1</cp:revision>
  <dcterms:created xsi:type="dcterms:W3CDTF">2026-10-06T20:23:39Z</dcterms:created>
  <dcterms:modified xsi:type="dcterms:W3CDTF">2026-10-06T20:23:39Z</dcterms:modified>
</cp:coreProperties>
</file>